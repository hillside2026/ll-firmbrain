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02975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6DA3D9"/>
                </a:solidFill>
                <a:latin typeface="Montserrat"/>
              </a:rPr>
              <a:t>Levine Law · Payments Law · Module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1002975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The Real-TimeRail (RTR)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931920"/>
            <a:ext cx="777240" cy="5029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187952"/>
            <a:ext cx="11002975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0" i="0">
                <a:solidFill>
                  <a:srgbClr val="AABBCC"/>
                </a:solidFill>
                <a:latin typeface="Montserrat"/>
              </a:rPr>
              <a:t>Canada's Modern Instant Payment Rail · Five Core Features · Regulatory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743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0" b="1" i="0">
                <a:solidFill>
                  <a:srgbClr val="CCDBEA"/>
                </a:solidFill>
                <a:latin typeface="Montserrat"/>
              </a:rPr>
              <a:t>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911535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200" b="1" i="0">
                <a:solidFill>
                  <a:srgbClr val="1D4771"/>
                </a:solidFill>
                <a:latin typeface="Georgia"/>
              </a:rPr>
              <a:t>The Real-Time 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10911535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334E68"/>
                </a:solidFill>
                <a:latin typeface="Montserrat"/>
              </a:rPr>
              <a:t>Canada's RTR project is intended to create a true modern instant payment rail — with real-time clearing and settlement, continuous 24/7 operation, and broader participation by payment service providers and fintechs.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1.2 — The Real-Time 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Five Core Features of RTR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1.2 — Feature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Real-Time Clearing and Settlement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ACSS — Batch Clearing (Today)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Transactions accumulated and cleared in cycles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Deferred settlement — finality occurs after the clearing cycle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Mitigation windows between initiation, clearing, and settlement allow intervention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1D4771"/>
                </a:solidFill>
                <a:latin typeface="Montserrat"/>
              </a:rPr>
              <a:t>RTR — Real-Time Settlement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Transactions processed individually as submitted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Status confirmation expected within seconds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0C1115"/>
                </a:solidFill>
                <a:latin typeface="Montserrat"/>
              </a:rPr>
              <a:t>•  Settlement finality is almost immediate — no deferred window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KEY TAKEAWAY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Real-time settlement reduces delay, but it also removes mitigation windows as a risk-management tool. Institutions can no longer rely on clearing cycles to resolve issues before funds move. The financial operations and Risk &amp; Compliance consequences of this shift are addressed in later modules.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1.2 — Feature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24/7/365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RTR is designed to operate continuously — including nights, weekends, and holidays. That may sound like a technology change, but it is also an operating model change. Payments no longer follow banking hours; they follow customer expectations.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LIQUIDITY MANAGEMENT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Institutions must maintain sufficient liquidity to support payment activity at all hours — not just during business-day settlement windows.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FRAUD MONITORING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Fraud detection and transaction monitoring must operate continuously. A fraud event at 2:00 a.m. on a Sunday is as material as one on a Tuesday afternoon.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OPERATIONAL SUPPORT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Staffing, escalation paths, and incident resolution capabilities must be available at all times — not reserved for business hours.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INCIDENT RESPONSE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Outage response, participant notifications, and remediation processes must function continuously across all hours and calendar days.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KEY TAKEAWAY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The payment rail never closes — which means risk management cannot close either. For many institutions, 24/7 operational readiness may be the most significant participation requirement.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1.2 — Feature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ISO 20022 Messaging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RTR is expected to use ISO 20022 — a modern messaging standard that supports significantly richer payment information than legacy formats. Instead of simply transmitting funds, participants can exchange structured data about the transaction.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Data ISO 20022 Can Carry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PAYER IDENTITY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Structured payer details including name, account, and identifier fields.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PAYEE IDENTITY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Structured payee details — enabling improved reconciliation and matching.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TRANSACTION PURPOSE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Standardized purpose codes describing the nature of the payment.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REMITTANCE INFORMATION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Invoice references, line-item detail, and structured remittance data.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Operational Benefits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AUTOMATION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Structured data enables automated payment matching and straight-through processing — reducing manual reconciliation effort.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MONITORING &amp; COMPLIANCE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Richer transaction data supports more precise fraud detection, AML monitoring, and regulatory reporting.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OPERATIONAL EFFICIENCY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ISO 20022 data fields allow participants to build more efficient, more automated back-office workflows — but only if systems are built to consume the richer format.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1.2 — Feature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Request-to-Pay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RTR is expected to support request-to-pay functionality — allowing a business or individual to send a payment request that the recipient can respond to before funds are transferred.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Sends a structured payment request — with amount, purpose, and payment reference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Reviews the request and chooses a response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RTR executes the approved payment in real time — only after payer authorization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USE CASES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Invoice settlement, bill payments, and collections — with improved visibility and direct payer control over authorization. May reduce unauthorized payment fraud.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KEY TAKEAWAY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Request-to-pay creates new ways to initiate payments while preserving customer control over authorization — a meaningful shift from push-payment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D4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3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"/>
            <a:ext cx="11002975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6DA3D9"/>
                </a:solidFill>
                <a:latin typeface="Montserrat"/>
              </a:rPr>
              <a:t>1.2 — Feature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"/>
            <a:ext cx="11002975" cy="621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Facilitating Innovation via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1002975" cy="5394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RTR is intended to support broader participation — extending access beyond traditional deposit-taking institutions to payment service providers, fintechs, and other non-traditional participants. Greater access encourages innovation and competition.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Opportunities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BROADER COMPETITION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Non-bank payment service providers can access the rail directly — reducing dependence on bank intermediaries and opening new market positions.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PRODUCT INNOVATION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Access to real-time infrastructure enables fintechs and PSPs to build new payment products and customer experiences on top of the RTR rail.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500" b="0" i="0">
                <a:solidFill>
                  <a:srgbClr val="334E68"/>
                </a:solidFill>
                <a:latin typeface="Montserrat"/>
              </a:rPr>
              <a:t>Governance Questions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OPERATIONAL &amp; CYBER RISK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More participants means more entry points. Operational, cybersecurity, and third-party risk management standards must apply consistently across all participant types.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6DA3D9"/>
                </a:solidFill>
                <a:latin typeface="Montserrat"/>
              </a:rPr>
              <a:t>NON-BANK OVERSIGHT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C1115"/>
                </a:solidFill>
                <a:latin typeface="Montserrat"/>
              </a:rPr>
              <a:t>How governance, resilience, compliance, and oversight expectations apply to non-deposit-taking participants is an important open question as RTR participation expands.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000" b="1" i="0">
                <a:solidFill>
                  <a:srgbClr val="0365B2"/>
                </a:solidFill>
                <a:latin typeface="Montserrat"/>
              </a:rPr>
              <a:t>KEY TAKEAWAY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0C1115"/>
                </a:solidFill>
                <a:latin typeface="Montserrat"/>
              </a:rPr>
              <a:t>Open access does not mean reduced oversight. It means more participants operating under robust and consistent standards — and greater scrutiny of how those standards are enforced across a more diverse participant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