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D4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0365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1D4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0365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0" y="274320"/>
            <a:ext cx="5029200" cy="2743200"/>
          </a:xfrm>
          <a:prstGeom prst="rect">
            <a:avLst/>
          </a:prstGeom>
          <a:noFill/>
          <a:ln>
            <a:noFill/>
          </a:ln>
        </p:spPr>
        <p:txBody>
          <a:bodyPr wrap="square">
            <a:spAutoFit/>
          </a:bodyPr>
          <a:lstStyle/>
          <a:p>
            <a:pPr algn="l">
              <a:spcBef>
                <a:spcPts val="0"/>
              </a:spcBef>
              <a:spcAft>
                <a:spcPts val="500"/>
              </a:spcAft>
            </a:pPr>
            <a:r>
              <a:rPr sz="11000" b="1" i="0">
                <a:solidFill>
                  <a:srgbClr val="CCDBEA"/>
                </a:solidFill>
                <a:latin typeface="Montserrat"/>
              </a:rPr>
              <a:t>2.1</a:t>
            </a:r>
          </a:p>
        </p:txBody>
      </p:sp>
      <p:sp>
        <p:nvSpPr>
          <p:cNvPr id="6" name="TextBox 5"/>
          <p:cNvSpPr txBox="1"/>
          <p:nvPr/>
        </p:nvSpPr>
        <p:spPr>
          <a:xfrm>
            <a:off x="685800" y="1828800"/>
            <a:ext cx="10911535" cy="1371600"/>
          </a:xfrm>
          <a:prstGeom prst="rect">
            <a:avLst/>
          </a:prstGeom>
          <a:noFill/>
          <a:ln>
            <a:noFill/>
          </a:ln>
        </p:spPr>
        <p:txBody>
          <a:bodyPr wrap="square">
            <a:spAutoFit/>
          </a:bodyPr>
          <a:lstStyle/>
          <a:p>
            <a:pPr algn="l">
              <a:spcBef>
                <a:spcPts val="0"/>
              </a:spcBef>
              <a:spcAft>
                <a:spcPts val="500"/>
              </a:spcAft>
            </a:pPr>
            <a:r>
              <a:rPr sz="4200" b="1" i="0">
                <a:solidFill>
                  <a:srgbClr val="1D4771"/>
                </a:solidFill>
                <a:latin typeface="Georgia"/>
              </a:rPr>
              <a:t>Three Core Distinctions</a:t>
            </a:r>
          </a:p>
        </p:txBody>
      </p:sp>
      <p:sp>
        <p:nvSpPr>
          <p:cNvPr id="7" name="TextBox 6"/>
          <p:cNvSpPr txBox="1"/>
          <p:nvPr/>
        </p:nvSpPr>
        <p:spPr>
          <a:xfrm>
            <a:off x="685800" y="3246120"/>
            <a:ext cx="10911535" cy="1828800"/>
          </a:xfrm>
          <a:prstGeom prst="rect">
            <a:avLst/>
          </a:prstGeom>
          <a:noFill/>
          <a:ln>
            <a:noFill/>
          </a:ln>
        </p:spPr>
        <p:txBody>
          <a:bodyPr wrap="square">
            <a:spAutoFit/>
          </a:bodyPr>
          <a:lstStyle/>
          <a:p>
            <a:pPr algn="l">
              <a:spcBef>
                <a:spcPts val="0"/>
              </a:spcBef>
              <a:spcAft>
                <a:spcPts val="500"/>
              </a:spcAft>
            </a:pPr>
            <a:r>
              <a:rPr sz="2000" b="0" i="0">
                <a:solidFill>
                  <a:srgbClr val="334E68"/>
                </a:solidFill>
                <a:latin typeface="Montserrat"/>
              </a:rPr>
              <a:t>Three distinctions underpin virtually every payment system — and shape how risk is allocated in a real-time environment.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D4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0365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28016"/>
            <a:ext cx="11002975" cy="347472"/>
          </a:xfrm>
          <a:prstGeom prst="rect">
            <a:avLst/>
          </a:prstGeom>
          <a:noFill/>
          <a:ln>
            <a:noFill/>
          </a:ln>
        </p:spPr>
        <p:txBody>
          <a:bodyPr wrap="square">
            <a:spAutoFit/>
          </a:bodyPr>
          <a:lstStyle/>
          <a:p>
            <a:pPr algn="l">
              <a:spcBef>
                <a:spcPts val="0"/>
              </a:spcBef>
              <a:spcAft>
                <a:spcPts val="500"/>
              </a:spcAft>
            </a:pPr>
            <a:r>
              <a:rPr sz="1100" b="1" i="0">
                <a:solidFill>
                  <a:srgbClr val="6DA3D9"/>
                </a:solidFill>
                <a:latin typeface="Montserrat"/>
              </a:rPr>
              <a:t>2.1 — First Distinction</a:t>
            </a:r>
          </a:p>
        </p:txBody>
      </p:sp>
      <p:sp>
        <p:nvSpPr>
          <p:cNvPr id="6" name="TextBox 5"/>
          <p:cNvSpPr txBox="1"/>
          <p:nvPr/>
        </p:nvSpPr>
        <p:spPr>
          <a:xfrm>
            <a:off x="594360" y="420624"/>
            <a:ext cx="11002975" cy="621792"/>
          </a:xfrm>
          <a:prstGeom prst="rect">
            <a:avLst/>
          </a:prstGeom>
          <a:noFill/>
          <a:ln>
            <a:noFill/>
          </a:ln>
        </p:spPr>
        <p:txBody>
          <a:bodyPr wrap="square">
            <a:spAutoFit/>
          </a:bodyPr>
          <a:lstStyle/>
          <a:p>
            <a:pPr algn="l">
              <a:spcBef>
                <a:spcPts val="0"/>
              </a:spcBef>
              <a:spcAft>
                <a:spcPts val="500"/>
              </a:spcAft>
            </a:pPr>
            <a:r>
              <a:rPr sz="2800" b="1" i="0">
                <a:solidFill>
                  <a:srgbClr val="FFFFFF"/>
                </a:solidFill>
                <a:latin typeface="Georgia"/>
              </a:rPr>
              <a:t>Messaging vs. Funds Movement</a:t>
            </a:r>
          </a:p>
        </p:txBody>
      </p:sp>
      <p:sp>
        <p:nvSpPr>
          <p:cNvPr id="7" name="TextBox 6"/>
          <p:cNvSpPr txBox="1"/>
          <p:nvPr/>
        </p:nvSpPr>
        <p:spPr>
          <a:xfrm>
            <a:off x="594360" y="1170432"/>
            <a:ext cx="11002975" cy="5394960"/>
          </a:xfrm>
          <a:prstGeom prst="rect">
            <a:avLst/>
          </a:prstGeom>
          <a:noFill/>
          <a:ln>
            <a:noFill/>
          </a:ln>
        </p:spPr>
        <p:txBody>
          <a:bodyPr wrap="square">
            <a:spAutoFit/>
          </a:bodyPr>
          <a:lstStyle/>
          <a:p>
            <a:pPr algn="l">
              <a:spcBef>
                <a:spcPts val="0"/>
              </a:spcBef>
              <a:spcAft>
                <a:spcPts val="400"/>
              </a:spcAft>
            </a:pPr>
            <a:r>
              <a:rPr sz="1500" b="0" i="0">
                <a:solidFill>
                  <a:srgbClr val="334E68"/>
                </a:solidFill>
                <a:latin typeface="Montserrat"/>
              </a:rPr>
              <a:t>A payment message is an instruction that identifies who is paying, who is receiving, the amount, and the routing information. The message itself is not money.</a:t>
            </a:r>
          </a:p>
          <a:p>
            <a:pPr algn="l">
              <a:spcBef>
                <a:spcPts val="600"/>
              </a:spcBef>
              <a:spcAft>
                <a:spcPts val="400"/>
              </a:spcAft>
            </a:pPr>
            <a:r>
              <a:rPr sz="1500" b="0" i="0">
                <a:solidFill>
                  <a:srgbClr val="334E68"/>
                </a:solidFill>
                <a:latin typeface="Montserrat"/>
              </a:rPr>
              <a:t>Historically, systems could transmit payment instructions more quickly than they could clear and settle the underlying obligation.</a:t>
            </a:r>
          </a:p>
          <a:p>
            <a:pPr algn="l">
              <a:spcBef>
                <a:spcPts val="600"/>
              </a:spcBef>
              <a:spcAft>
                <a:spcPts val="400"/>
              </a:spcAft>
            </a:pPr>
            <a:r>
              <a:rPr sz="1500" b="0" i="0">
                <a:solidFill>
                  <a:srgbClr val="334E68"/>
                </a:solidFill>
                <a:latin typeface="Montserrat"/>
              </a:rPr>
              <a:t>This raises a critical threshold question:</a:t>
            </a:r>
          </a:p>
          <a:p>
            <a:pPr algn="l">
              <a:spcBef>
                <a:spcPts val="600"/>
              </a:spcBef>
              <a:spcAft>
                <a:spcPts val="400"/>
              </a:spcAft>
            </a:pPr>
            <a:r>
              <a:rPr sz="1500" b="0" i="0">
                <a:solidFill>
                  <a:srgbClr val="334E68"/>
                </a:solidFill>
                <a:latin typeface="Montserrat"/>
              </a:rPr>
              <a:t>"What exactly is happening in real time?"</a:t>
            </a:r>
          </a:p>
          <a:p>
            <a:pPr algn="l">
              <a:spcBef>
                <a:spcPts val="600"/>
              </a:spcBef>
              <a:spcAft>
                <a:spcPts val="100"/>
              </a:spcAft>
            </a:pPr>
            <a:r>
              <a:rPr sz="1000" b="1" i="0">
                <a:solidFill>
                  <a:srgbClr val="6DA3D9"/>
                </a:solidFill>
                <a:latin typeface="Montserrat"/>
              </a:rPr>
              <a:t>OPTION A</a:t>
            </a:r>
          </a:p>
          <a:p>
            <a:pPr algn="l">
              <a:spcBef>
                <a:spcPts val="0"/>
              </a:spcBef>
              <a:spcAft>
                <a:spcPts val="400"/>
              </a:spcAft>
            </a:pPr>
            <a:r>
              <a:rPr sz="1300" b="0" i="0">
                <a:solidFill>
                  <a:srgbClr val="0C1115"/>
                </a:solidFill>
                <a:latin typeface="Montserrat"/>
              </a:rPr>
              <a:t>Real-time messaging only</a:t>
            </a:r>
          </a:p>
          <a:p>
            <a:pPr algn="l">
              <a:spcBef>
                <a:spcPts val="600"/>
              </a:spcBef>
              <a:spcAft>
                <a:spcPts val="100"/>
              </a:spcAft>
            </a:pPr>
            <a:r>
              <a:rPr sz="1000" b="1" i="0">
                <a:solidFill>
                  <a:srgbClr val="6DA3D9"/>
                </a:solidFill>
                <a:latin typeface="Montserrat"/>
              </a:rPr>
              <a:t>OPTION B</a:t>
            </a:r>
          </a:p>
          <a:p>
            <a:pPr algn="l">
              <a:spcBef>
                <a:spcPts val="0"/>
              </a:spcBef>
              <a:spcAft>
                <a:spcPts val="400"/>
              </a:spcAft>
            </a:pPr>
            <a:r>
              <a:rPr sz="1300" b="0" i="0">
                <a:solidFill>
                  <a:srgbClr val="0C1115"/>
                </a:solidFill>
                <a:latin typeface="Montserrat"/>
              </a:rPr>
              <a:t>Real-time clearing</a:t>
            </a:r>
          </a:p>
          <a:p>
            <a:pPr algn="l">
              <a:spcBef>
                <a:spcPts val="600"/>
              </a:spcBef>
              <a:spcAft>
                <a:spcPts val="100"/>
              </a:spcAft>
            </a:pPr>
            <a:r>
              <a:rPr sz="1000" b="1" i="0">
                <a:solidFill>
                  <a:srgbClr val="6DA3D9"/>
                </a:solidFill>
                <a:latin typeface="Montserrat"/>
              </a:rPr>
              <a:t>OPTION C</a:t>
            </a:r>
          </a:p>
          <a:p>
            <a:pPr algn="l">
              <a:spcBef>
                <a:spcPts val="0"/>
              </a:spcBef>
              <a:spcAft>
                <a:spcPts val="400"/>
              </a:spcAft>
            </a:pPr>
            <a:r>
              <a:rPr sz="1300" b="0" i="0">
                <a:solidFill>
                  <a:srgbClr val="0C1115"/>
                </a:solidFill>
                <a:latin typeface="Montserrat"/>
              </a:rPr>
              <a:t>Real-time settlement</a:t>
            </a:r>
          </a:p>
          <a:p>
            <a:pPr algn="l">
              <a:spcBef>
                <a:spcPts val="600"/>
              </a:spcBef>
              <a:spcAft>
                <a:spcPts val="100"/>
              </a:spcAft>
            </a:pPr>
            <a:r>
              <a:rPr sz="1000" b="1" i="0">
                <a:solidFill>
                  <a:srgbClr val="6DA3D9"/>
                </a:solidFill>
                <a:latin typeface="Montserrat"/>
              </a:rPr>
              <a:t>RTR OBJECTIVE</a:t>
            </a:r>
          </a:p>
          <a:p>
            <a:pPr algn="l">
              <a:spcBef>
                <a:spcPts val="0"/>
              </a:spcBef>
              <a:spcAft>
                <a:spcPts val="400"/>
              </a:spcAft>
            </a:pPr>
            <a:r>
              <a:rPr sz="1300" b="0" i="0">
                <a:solidFill>
                  <a:srgbClr val="0C1115"/>
                </a:solidFill>
                <a:latin typeface="Montserrat"/>
              </a:rPr>
              <a:t>All three — real-time clearing and settlement of payment instructions, not just message transmission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D4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0365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28016"/>
            <a:ext cx="11002975" cy="347472"/>
          </a:xfrm>
          <a:prstGeom prst="rect">
            <a:avLst/>
          </a:prstGeom>
          <a:noFill/>
          <a:ln>
            <a:noFill/>
          </a:ln>
        </p:spPr>
        <p:txBody>
          <a:bodyPr wrap="square">
            <a:spAutoFit/>
          </a:bodyPr>
          <a:lstStyle/>
          <a:p>
            <a:pPr algn="l">
              <a:spcBef>
                <a:spcPts val="0"/>
              </a:spcBef>
              <a:spcAft>
                <a:spcPts val="500"/>
              </a:spcAft>
            </a:pPr>
            <a:r>
              <a:rPr sz="1100" b="1" i="0">
                <a:solidFill>
                  <a:srgbClr val="6DA3D9"/>
                </a:solidFill>
                <a:latin typeface="Montserrat"/>
              </a:rPr>
              <a:t>2.1 — Second Distinction</a:t>
            </a:r>
          </a:p>
        </p:txBody>
      </p:sp>
      <p:sp>
        <p:nvSpPr>
          <p:cNvPr id="6" name="TextBox 5"/>
          <p:cNvSpPr txBox="1"/>
          <p:nvPr/>
        </p:nvSpPr>
        <p:spPr>
          <a:xfrm>
            <a:off x="594360" y="420624"/>
            <a:ext cx="11002975" cy="621792"/>
          </a:xfrm>
          <a:prstGeom prst="rect">
            <a:avLst/>
          </a:prstGeom>
          <a:noFill/>
          <a:ln>
            <a:noFill/>
          </a:ln>
        </p:spPr>
        <p:txBody>
          <a:bodyPr wrap="square">
            <a:spAutoFit/>
          </a:bodyPr>
          <a:lstStyle/>
          <a:p>
            <a:pPr algn="l">
              <a:spcBef>
                <a:spcPts val="0"/>
              </a:spcBef>
              <a:spcAft>
                <a:spcPts val="500"/>
              </a:spcAft>
            </a:pPr>
            <a:r>
              <a:rPr sz="2800" b="1" i="0">
                <a:solidFill>
                  <a:srgbClr val="FFFFFF"/>
                </a:solidFill>
                <a:latin typeface="Georgia"/>
              </a:rPr>
              <a:t>Clearing vs. Settlement</a:t>
            </a:r>
          </a:p>
        </p:txBody>
      </p:sp>
      <p:sp>
        <p:nvSpPr>
          <p:cNvPr id="7" name="TextBox 6"/>
          <p:cNvSpPr txBox="1"/>
          <p:nvPr/>
        </p:nvSpPr>
        <p:spPr>
          <a:xfrm>
            <a:off x="594360" y="1170432"/>
            <a:ext cx="11002975" cy="5394960"/>
          </a:xfrm>
          <a:prstGeom prst="rect">
            <a:avLst/>
          </a:prstGeom>
          <a:noFill/>
          <a:ln>
            <a:noFill/>
          </a:ln>
        </p:spPr>
        <p:txBody>
          <a:bodyPr wrap="square">
            <a:spAutoFit/>
          </a:bodyPr>
          <a:lstStyle/>
          <a:p>
            <a:pPr algn="l">
              <a:spcBef>
                <a:spcPts val="0"/>
              </a:spcBef>
              <a:spcAft>
                <a:spcPts val="200"/>
              </a:spcAft>
            </a:pPr>
            <a:r>
              <a:rPr sz="1400" b="1" i="0">
                <a:solidFill>
                  <a:srgbClr val="1D4771"/>
                </a:solidFill>
                <a:latin typeface="Montserrat"/>
              </a:rPr>
              <a:t>Clearing</a:t>
            </a:r>
          </a:p>
          <a:p>
            <a:pPr algn="l">
              <a:spcBef>
                <a:spcPts val="200"/>
              </a:spcBef>
              <a:spcAft>
                <a:spcPts val="200"/>
              </a:spcAft>
            </a:pPr>
            <a:r>
              <a:rPr sz="1400" b="0" i="0">
                <a:solidFill>
                  <a:srgbClr val="0C1115"/>
                </a:solidFill>
                <a:latin typeface="Montserrat"/>
              </a:rPr>
              <a:t>•  The process of identifying, validating, reconciling, and calculating payment obligations between participants</a:t>
            </a:r>
          </a:p>
          <a:p>
            <a:pPr algn="l">
              <a:spcBef>
                <a:spcPts val="200"/>
              </a:spcBef>
              <a:spcAft>
                <a:spcPts val="200"/>
              </a:spcAft>
            </a:pPr>
            <a:r>
              <a:rPr sz="1400" b="0" i="0">
                <a:solidFill>
                  <a:srgbClr val="0C1115"/>
                </a:solidFill>
                <a:latin typeface="Montserrat"/>
              </a:rPr>
              <a:t>•  Determines what is owed — to whom, and by how much</a:t>
            </a:r>
          </a:p>
          <a:p>
            <a:pPr algn="l">
              <a:spcBef>
                <a:spcPts val="200"/>
              </a:spcBef>
              <a:spcAft>
                <a:spcPts val="200"/>
              </a:spcAft>
            </a:pPr>
            <a:r>
              <a:rPr sz="1400" b="0" i="0">
                <a:solidFill>
                  <a:srgbClr val="0C1115"/>
                </a:solidFill>
                <a:latin typeface="Montserrat"/>
              </a:rPr>
              <a:t>•  Does not itself transfer value</a:t>
            </a:r>
          </a:p>
          <a:p>
            <a:pPr algn="l">
              <a:spcBef>
                <a:spcPts val="600"/>
              </a:spcBef>
              <a:spcAft>
                <a:spcPts val="200"/>
              </a:spcAft>
            </a:pPr>
            <a:r>
              <a:rPr sz="1400" b="1" i="0">
                <a:solidFill>
                  <a:srgbClr val="1D4771"/>
                </a:solidFill>
                <a:latin typeface="Montserrat"/>
              </a:rPr>
              <a:t>Settlement</a:t>
            </a:r>
          </a:p>
          <a:p>
            <a:pPr algn="l">
              <a:spcBef>
                <a:spcPts val="200"/>
              </a:spcBef>
              <a:spcAft>
                <a:spcPts val="200"/>
              </a:spcAft>
            </a:pPr>
            <a:r>
              <a:rPr sz="1400" b="0" i="0">
                <a:solidFill>
                  <a:srgbClr val="0C1115"/>
                </a:solidFill>
                <a:latin typeface="Montserrat"/>
              </a:rPr>
              <a:t>•  The discharge of those obligations — the transfer of value</a:t>
            </a:r>
          </a:p>
          <a:p>
            <a:pPr algn="l">
              <a:spcBef>
                <a:spcPts val="200"/>
              </a:spcBef>
              <a:spcAft>
                <a:spcPts val="200"/>
              </a:spcAft>
            </a:pPr>
            <a:r>
              <a:rPr sz="1400" b="0" i="0">
                <a:solidFill>
                  <a:srgbClr val="0C1115"/>
                </a:solidFill>
                <a:latin typeface="Montserrat"/>
              </a:rPr>
              <a:t>•  The point at which payment obligations are satisfied</a:t>
            </a:r>
          </a:p>
          <a:p>
            <a:pPr algn="l">
              <a:spcBef>
                <a:spcPts val="200"/>
              </a:spcBef>
              <a:spcAft>
                <a:spcPts val="200"/>
              </a:spcAft>
            </a:pPr>
            <a:r>
              <a:rPr sz="1400" b="0" i="0">
                <a:solidFill>
                  <a:srgbClr val="0C1115"/>
                </a:solidFill>
                <a:latin typeface="Montserrat"/>
              </a:rPr>
              <a:t>•  Settlement is final and, in most systems, irrevocable</a:t>
            </a:r>
          </a:p>
          <a:p>
            <a:pPr algn="l">
              <a:spcBef>
                <a:spcPts val="600"/>
              </a:spcBef>
              <a:spcAft>
                <a:spcPts val="100"/>
              </a:spcAft>
            </a:pPr>
            <a:r>
              <a:rPr sz="1000" b="1" i="0">
                <a:solidFill>
                  <a:srgbClr val="0365B2"/>
                </a:solidFill>
                <a:latin typeface="Montserrat"/>
              </a:rPr>
              <a:t>RTR IMPLICATION</a:t>
            </a:r>
          </a:p>
          <a:p>
            <a:pPr algn="l">
              <a:spcBef>
                <a:spcPts val="0"/>
              </a:spcBef>
              <a:spcAft>
                <a:spcPts val="400"/>
              </a:spcAft>
            </a:pPr>
            <a:r>
              <a:rPr sz="1300" b="0" i="1">
                <a:solidFill>
                  <a:srgbClr val="0C1115"/>
                </a:solidFill>
                <a:latin typeface="Montserrat"/>
              </a:rPr>
              <a:t>Historically, clearing and settlement were separated by hours or days — providing time for error identification, liquidity positioning, and exception handling. RTR compresses this interval. Institutions have less time to manage liquidity, intervene when issues arise, or prevent problematic transactions from completing.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D4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0365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28016"/>
            <a:ext cx="11002975" cy="347472"/>
          </a:xfrm>
          <a:prstGeom prst="rect">
            <a:avLst/>
          </a:prstGeom>
          <a:noFill/>
          <a:ln>
            <a:noFill/>
          </a:ln>
        </p:spPr>
        <p:txBody>
          <a:bodyPr wrap="square">
            <a:spAutoFit/>
          </a:bodyPr>
          <a:lstStyle/>
          <a:p>
            <a:pPr algn="l">
              <a:spcBef>
                <a:spcPts val="0"/>
              </a:spcBef>
              <a:spcAft>
                <a:spcPts val="500"/>
              </a:spcAft>
            </a:pPr>
            <a:r>
              <a:rPr sz="1100" b="1" i="0">
                <a:solidFill>
                  <a:srgbClr val="6DA3D9"/>
                </a:solidFill>
                <a:latin typeface="Montserrat"/>
              </a:rPr>
              <a:t>2.1 — Third Distinction</a:t>
            </a:r>
          </a:p>
        </p:txBody>
      </p:sp>
      <p:sp>
        <p:nvSpPr>
          <p:cNvPr id="6" name="TextBox 5"/>
          <p:cNvSpPr txBox="1"/>
          <p:nvPr/>
        </p:nvSpPr>
        <p:spPr>
          <a:xfrm>
            <a:off x="594360" y="420624"/>
            <a:ext cx="11002975" cy="621792"/>
          </a:xfrm>
          <a:prstGeom prst="rect">
            <a:avLst/>
          </a:prstGeom>
          <a:noFill/>
          <a:ln>
            <a:noFill/>
          </a:ln>
        </p:spPr>
        <p:txBody>
          <a:bodyPr wrap="square">
            <a:spAutoFit/>
          </a:bodyPr>
          <a:lstStyle/>
          <a:p>
            <a:pPr algn="l">
              <a:spcBef>
                <a:spcPts val="0"/>
              </a:spcBef>
              <a:spcAft>
                <a:spcPts val="500"/>
              </a:spcAft>
            </a:pPr>
            <a:r>
              <a:rPr sz="2800" b="1" i="0">
                <a:solidFill>
                  <a:srgbClr val="FFFFFF"/>
                </a:solidFill>
                <a:latin typeface="Georgia"/>
              </a:rPr>
              <a:t>Direct vs. Indirect Participation</a:t>
            </a:r>
          </a:p>
        </p:txBody>
      </p:sp>
      <p:sp>
        <p:nvSpPr>
          <p:cNvPr id="7" name="TextBox 6"/>
          <p:cNvSpPr txBox="1"/>
          <p:nvPr/>
        </p:nvSpPr>
        <p:spPr>
          <a:xfrm>
            <a:off x="594360" y="1170432"/>
            <a:ext cx="11002975" cy="5394960"/>
          </a:xfrm>
          <a:prstGeom prst="rect">
            <a:avLst/>
          </a:prstGeom>
          <a:noFill/>
          <a:ln>
            <a:noFill/>
          </a:ln>
        </p:spPr>
        <p:txBody>
          <a:bodyPr wrap="square">
            <a:spAutoFit/>
          </a:bodyPr>
          <a:lstStyle/>
          <a:p>
            <a:pPr algn="l">
              <a:spcBef>
                <a:spcPts val="0"/>
              </a:spcBef>
              <a:spcAft>
                <a:spcPts val="400"/>
              </a:spcAft>
            </a:pPr>
            <a:r>
              <a:rPr sz="1500" b="0" i="0">
                <a:solidFill>
                  <a:srgbClr val="334E68"/>
                </a:solidFill>
                <a:latin typeface="Montserrat"/>
              </a:rPr>
              <a:t>Not all participants interact with payment infrastructure in the same way. A participant's position within the payment chain determines who holds each responsibility.</a:t>
            </a:r>
          </a:p>
          <a:p>
            <a:pPr algn="l">
              <a:spcBef>
                <a:spcPts val="600"/>
              </a:spcBef>
              <a:spcAft>
                <a:spcPts val="100"/>
              </a:spcAft>
            </a:pPr>
            <a:r>
              <a:rPr sz="1000" b="1" i="0">
                <a:solidFill>
                  <a:srgbClr val="0365B2"/>
                </a:solidFill>
                <a:latin typeface="Montserrat"/>
              </a:rPr>
              <a:t>KEY INSIGHT</a:t>
            </a:r>
          </a:p>
          <a:p>
            <a:pPr algn="l">
              <a:spcBef>
                <a:spcPts val="0"/>
              </a:spcBef>
              <a:spcAft>
                <a:spcPts val="400"/>
              </a:spcAft>
            </a:pPr>
            <a:r>
              <a:rPr sz="1300" b="0" i="1">
                <a:solidFill>
                  <a:srgbClr val="0C1115"/>
                </a:solidFill>
                <a:latin typeface="Montserrat"/>
              </a:rPr>
              <a:t>Access to a payment system and responsibility within a payment system are not necessarily the same thing. The question is not simply whether an organization participates in RTR — but how it participates, and which risks and responsibilities accompany that role.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D4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0365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28016"/>
            <a:ext cx="11002975" cy="347472"/>
          </a:xfrm>
          <a:prstGeom prst="rect">
            <a:avLst/>
          </a:prstGeom>
          <a:noFill/>
          <a:ln>
            <a:noFill/>
          </a:ln>
        </p:spPr>
        <p:txBody>
          <a:bodyPr wrap="square">
            <a:spAutoFit/>
          </a:bodyPr>
          <a:lstStyle/>
          <a:p>
            <a:pPr algn="l">
              <a:spcBef>
                <a:spcPts val="0"/>
              </a:spcBef>
              <a:spcAft>
                <a:spcPts val="500"/>
              </a:spcAft>
            </a:pPr>
            <a:r>
              <a:rPr sz="1100" b="1" i="0">
                <a:solidFill>
                  <a:srgbClr val="6DA3D9"/>
                </a:solidFill>
                <a:latin typeface="Montserrat"/>
              </a:rPr>
              <a:t>2.2 — Overview</a:t>
            </a:r>
          </a:p>
        </p:txBody>
      </p:sp>
      <p:sp>
        <p:nvSpPr>
          <p:cNvPr id="6" name="TextBox 5"/>
          <p:cNvSpPr txBox="1"/>
          <p:nvPr/>
        </p:nvSpPr>
        <p:spPr>
          <a:xfrm>
            <a:off x="594360" y="420624"/>
            <a:ext cx="11002975" cy="621792"/>
          </a:xfrm>
          <a:prstGeom prst="rect">
            <a:avLst/>
          </a:prstGeom>
          <a:noFill/>
          <a:ln>
            <a:noFill/>
          </a:ln>
        </p:spPr>
        <p:txBody>
          <a:bodyPr wrap="square">
            <a:spAutoFit/>
          </a:bodyPr>
          <a:lstStyle/>
          <a:p>
            <a:pPr algn="l">
              <a:spcBef>
                <a:spcPts val="0"/>
              </a:spcBef>
              <a:spcAft>
                <a:spcPts val="500"/>
              </a:spcAft>
            </a:pPr>
            <a:r>
              <a:rPr sz="2800" b="1" i="0">
                <a:solidFill>
                  <a:srgbClr val="FFFFFF"/>
                </a:solidFill>
                <a:latin typeface="Georgia"/>
              </a:rPr>
              <a:t>Why These Distinctions Matter</a:t>
            </a:r>
          </a:p>
        </p:txBody>
      </p:sp>
      <p:sp>
        <p:nvSpPr>
          <p:cNvPr id="7" name="TextBox 6"/>
          <p:cNvSpPr txBox="1"/>
          <p:nvPr/>
        </p:nvSpPr>
        <p:spPr>
          <a:xfrm>
            <a:off x="594360" y="1170432"/>
            <a:ext cx="11002975" cy="5394960"/>
          </a:xfrm>
          <a:prstGeom prst="rect">
            <a:avLst/>
          </a:prstGeom>
          <a:noFill/>
          <a:ln>
            <a:noFill/>
          </a:ln>
        </p:spPr>
        <p:txBody>
          <a:bodyPr wrap="square">
            <a:spAutoFit/>
          </a:bodyPr>
          <a:lstStyle/>
          <a:p>
            <a:pPr algn="l">
              <a:spcBef>
                <a:spcPts val="0"/>
              </a:spcBef>
              <a:spcAft>
                <a:spcPts val="400"/>
              </a:spcAft>
            </a:pPr>
            <a:r>
              <a:rPr sz="1500" b="0" i="0">
                <a:solidFill>
                  <a:srgbClr val="334E68"/>
                </a:solidFill>
                <a:latin typeface="Montserrat"/>
              </a:rPr>
              <a:t>These distinctions matter for at least three interconnected reasons. Each shapes how institutions must redesign their operations for a real-time environment.</a:t>
            </a:r>
          </a:p>
          <a:p>
            <a:pPr algn="l">
              <a:spcBef>
                <a:spcPts val="600"/>
              </a:spcBef>
              <a:spcAft>
                <a:spcPts val="200"/>
              </a:spcAft>
            </a:pPr>
            <a:r>
              <a:rPr sz="1400" b="1" i="0">
                <a:solidFill>
                  <a:srgbClr val="1D4771"/>
                </a:solidFill>
                <a:latin typeface="Montserrat"/>
              </a:rPr>
              <a:t>Liquidity</a:t>
            </a:r>
          </a:p>
          <a:p>
            <a:pPr algn="l">
              <a:spcBef>
                <a:spcPts val="600"/>
              </a:spcBef>
              <a:spcAft>
                <a:spcPts val="400"/>
              </a:spcAft>
            </a:pPr>
            <a:r>
              <a:rPr sz="1500" b="0" i="0">
                <a:solidFill>
                  <a:srgbClr val="334E68"/>
                </a:solidFill>
                <a:latin typeface="Montserrat"/>
              </a:rPr>
              <a:t>Funds must be available at the point of payment — not at end of day. Real-time systems demand continuous liquidity management.</a:t>
            </a:r>
          </a:p>
          <a:p>
            <a:pPr algn="l">
              <a:spcBef>
                <a:spcPts val="600"/>
              </a:spcBef>
              <a:spcAft>
                <a:spcPts val="200"/>
              </a:spcAft>
            </a:pPr>
            <a:r>
              <a:rPr sz="1400" b="1" i="0">
                <a:solidFill>
                  <a:srgbClr val="1D4771"/>
                </a:solidFill>
                <a:latin typeface="Montserrat"/>
              </a:rPr>
              <a:t>Controls</a:t>
            </a:r>
          </a:p>
          <a:p>
            <a:pPr algn="l">
              <a:spcBef>
                <a:spcPts val="600"/>
              </a:spcBef>
              <a:spcAft>
                <a:spcPts val="400"/>
              </a:spcAft>
            </a:pPr>
            <a:r>
              <a:rPr sz="1500" b="0" i="0">
                <a:solidFill>
                  <a:srgbClr val="334E68"/>
                </a:solidFill>
                <a:latin typeface="Montserrat"/>
              </a:rPr>
              <a:t>Compliance, fraud, and error risks must increasingly be addressed before a payment is sent — not after. The window to intervene is gone.</a:t>
            </a:r>
          </a:p>
          <a:p>
            <a:pPr algn="l">
              <a:spcBef>
                <a:spcPts val="600"/>
              </a:spcBef>
              <a:spcAft>
                <a:spcPts val="200"/>
              </a:spcAft>
            </a:pPr>
            <a:r>
              <a:rPr sz="1400" b="1" i="0">
                <a:solidFill>
                  <a:srgbClr val="1D4771"/>
                </a:solidFill>
                <a:latin typeface="Montserrat"/>
              </a:rPr>
              <a:t>Responsibility</a:t>
            </a:r>
          </a:p>
          <a:p>
            <a:pPr algn="l">
              <a:spcBef>
                <a:spcPts val="600"/>
              </a:spcBef>
              <a:spcAft>
                <a:spcPts val="400"/>
              </a:spcAft>
            </a:pPr>
            <a:r>
              <a:rPr sz="1500" b="0" i="0">
                <a:solidFill>
                  <a:srgbClr val="334E68"/>
                </a:solidFill>
                <a:latin typeface="Montserrat"/>
              </a:rPr>
              <a:t>When something goes wrong, unwinding the transaction is limited. The allocation of risk becomes sharp-edged.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D4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0365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28016"/>
            <a:ext cx="11002975" cy="347472"/>
          </a:xfrm>
          <a:prstGeom prst="rect">
            <a:avLst/>
          </a:prstGeom>
          <a:noFill/>
          <a:ln>
            <a:noFill/>
          </a:ln>
        </p:spPr>
        <p:txBody>
          <a:bodyPr wrap="square">
            <a:spAutoFit/>
          </a:bodyPr>
          <a:lstStyle/>
          <a:p>
            <a:pPr algn="l">
              <a:spcBef>
                <a:spcPts val="0"/>
              </a:spcBef>
              <a:spcAft>
                <a:spcPts val="500"/>
              </a:spcAft>
            </a:pPr>
            <a:r>
              <a:rPr sz="1100" b="1" i="0">
                <a:solidFill>
                  <a:srgbClr val="6DA3D9"/>
                </a:solidFill>
                <a:latin typeface="Montserrat"/>
              </a:rPr>
              <a:t>2.2.1 — Liquidity Management</a:t>
            </a:r>
          </a:p>
        </p:txBody>
      </p:sp>
      <p:sp>
        <p:nvSpPr>
          <p:cNvPr id="6" name="TextBox 5"/>
          <p:cNvSpPr txBox="1"/>
          <p:nvPr/>
        </p:nvSpPr>
        <p:spPr>
          <a:xfrm>
            <a:off x="594360" y="420624"/>
            <a:ext cx="11002975" cy="621792"/>
          </a:xfrm>
          <a:prstGeom prst="rect">
            <a:avLst/>
          </a:prstGeom>
          <a:noFill/>
          <a:ln>
            <a:noFill/>
          </a:ln>
        </p:spPr>
        <p:txBody>
          <a:bodyPr wrap="square">
            <a:spAutoFit/>
          </a:bodyPr>
          <a:lstStyle/>
          <a:p>
            <a:pPr algn="l">
              <a:spcBef>
                <a:spcPts val="0"/>
              </a:spcBef>
              <a:spcAft>
                <a:spcPts val="500"/>
              </a:spcAft>
            </a:pPr>
            <a:r>
              <a:rPr sz="2800" b="1" i="0">
                <a:solidFill>
                  <a:srgbClr val="FFFFFF"/>
                </a:solidFill>
                <a:latin typeface="Georgia"/>
              </a:rPr>
              <a:t>Managing Liquidity in Real Time</a:t>
            </a:r>
          </a:p>
        </p:txBody>
      </p:sp>
      <p:sp>
        <p:nvSpPr>
          <p:cNvPr id="7" name="TextBox 6"/>
          <p:cNvSpPr txBox="1"/>
          <p:nvPr/>
        </p:nvSpPr>
        <p:spPr>
          <a:xfrm>
            <a:off x="594360" y="1170432"/>
            <a:ext cx="11002975" cy="5394960"/>
          </a:xfrm>
          <a:prstGeom prst="rect">
            <a:avLst/>
          </a:prstGeom>
          <a:noFill/>
          <a:ln>
            <a:noFill/>
          </a:ln>
        </p:spPr>
        <p:txBody>
          <a:bodyPr wrap="square">
            <a:spAutoFit/>
          </a:bodyPr>
          <a:lstStyle/>
          <a:p>
            <a:pPr algn="l">
              <a:spcBef>
                <a:spcPts val="0"/>
              </a:spcBef>
              <a:spcAft>
                <a:spcPts val="400"/>
              </a:spcAft>
            </a:pPr>
            <a:r>
              <a:rPr sz="1500" b="0" i="0">
                <a:solidFill>
                  <a:srgbClr val="334E68"/>
                </a:solidFill>
                <a:latin typeface="Montserrat"/>
              </a:rPr>
              <a:t>Payment obligations accumulate, are netted or reconciled, and settle on predetermined schedules.</a:t>
            </a:r>
          </a:p>
          <a:p>
            <a:pPr algn="l">
              <a:spcBef>
                <a:spcPts val="600"/>
              </a:spcBef>
              <a:spcAft>
                <a:spcPts val="400"/>
              </a:spcAft>
            </a:pPr>
            <a:r>
              <a:rPr sz="1500" b="0" i="0">
                <a:solidFill>
                  <a:srgbClr val="334E68"/>
                </a:solidFill>
                <a:latin typeface="Montserrat"/>
              </a:rPr>
              <a:t>Funding decisions are made with reference to known settlement windows. Liquidity managed over the course of a business day.</a:t>
            </a:r>
          </a:p>
          <a:p>
            <a:pPr algn="l">
              <a:spcBef>
                <a:spcPts val="600"/>
              </a:spcBef>
              <a:spcAft>
                <a:spcPts val="400"/>
              </a:spcAft>
            </a:pPr>
            <a:r>
              <a:rPr sz="1500" b="0" i="0">
                <a:solidFill>
                  <a:srgbClr val="334E68"/>
                </a:solidFill>
                <a:latin typeface="Montserrat"/>
              </a:rPr>
              <a:t>Funds must generally be available at or near the time the payment is processed — at any hour, any day.</a:t>
            </a:r>
          </a:p>
          <a:p>
            <a:pPr algn="l">
              <a:spcBef>
                <a:spcPts val="600"/>
              </a:spcBef>
              <a:spcAft>
                <a:spcPts val="400"/>
              </a:spcAft>
            </a:pPr>
            <a:r>
              <a:rPr sz="1500" b="0" i="0">
                <a:solidFill>
                  <a:srgbClr val="334E68"/>
                </a:solidFill>
                <a:latin typeface="Montserrat"/>
              </a:rPr>
              <a:t>No settlement window. Obligations arise, are processed, and become final within seconds.</a:t>
            </a:r>
          </a:p>
          <a:p>
            <a:pPr algn="l">
              <a:spcBef>
                <a:spcPts val="600"/>
              </a:spcBef>
              <a:spcAft>
                <a:spcPts val="400"/>
              </a:spcAft>
            </a:pPr>
            <a:r>
              <a:rPr sz="1500" b="0" i="0">
                <a:solidFill>
                  <a:srgbClr val="334E68"/>
                </a:solidFill>
                <a:latin typeface="Montserrat"/>
              </a:rPr>
              <a:t>Participants must continuously determine:</a:t>
            </a:r>
          </a:p>
          <a:p>
            <a:pPr algn="l">
              <a:spcBef>
                <a:spcPts val="0"/>
              </a:spcBef>
              <a:spcAft>
                <a:spcPts val="400"/>
              </a:spcAft>
            </a:pPr>
            <a:r>
              <a:rPr sz="1300" b="0" i="0">
                <a:solidFill>
                  <a:srgbClr val="0C1115"/>
                </a:solidFill>
                <a:latin typeface="Montserrat"/>
              </a:rPr>
              <a:t>How much liquidity to maintain</a:t>
            </a:r>
          </a:p>
          <a:p>
            <a:pPr algn="l">
              <a:spcBef>
                <a:spcPts val="0"/>
              </a:spcBef>
              <a:spcAft>
                <a:spcPts val="400"/>
              </a:spcAft>
            </a:pPr>
            <a:r>
              <a:rPr sz="1300" b="0" i="0">
                <a:solidFill>
                  <a:srgbClr val="0C1115"/>
                </a:solidFill>
                <a:latin typeface="Montserrat"/>
              </a:rPr>
              <a:t>Where liquidity should be positioned</a:t>
            </a:r>
          </a:p>
          <a:p>
            <a:pPr algn="l">
              <a:spcBef>
                <a:spcPts val="0"/>
              </a:spcBef>
              <a:spcAft>
                <a:spcPts val="400"/>
              </a:spcAft>
            </a:pPr>
            <a:r>
              <a:rPr sz="1300" b="0" i="0">
                <a:solidFill>
                  <a:srgbClr val="0C1115"/>
                </a:solidFill>
                <a:latin typeface="Montserrat"/>
              </a:rPr>
              <a:t>How liquidity will be replenished</a:t>
            </a:r>
          </a:p>
          <a:p>
            <a:pPr algn="l">
              <a:spcBef>
                <a:spcPts val="0"/>
              </a:spcBef>
              <a:spcAft>
                <a:spcPts val="400"/>
              </a:spcAft>
            </a:pPr>
            <a:r>
              <a:rPr sz="1300" b="0" i="0">
                <a:solidFill>
                  <a:srgbClr val="0C1115"/>
                </a:solidFill>
                <a:latin typeface="Montserrat"/>
              </a:rPr>
              <a:t>How liquidity will be monitored continuously</a:t>
            </a:r>
          </a:p>
          <a:p>
            <a:pPr algn="l">
              <a:spcBef>
                <a:spcPts val="0"/>
              </a:spcBef>
              <a:spcAft>
                <a:spcPts val="400"/>
              </a:spcAft>
            </a:pPr>
            <a:r>
              <a:rPr sz="1300" b="0" i="0">
                <a:solidFill>
                  <a:srgbClr val="0C1115"/>
                </a:solidFill>
                <a:latin typeface="Montserrat"/>
              </a:rPr>
              <a:t>How to manage liquidity outside traditional business hours</a:t>
            </a:r>
          </a:p>
          <a:p>
            <a:pPr algn="l">
              <a:spcBef>
                <a:spcPts val="0"/>
              </a:spcBef>
              <a:spcAft>
                <a:spcPts val="400"/>
              </a:spcAft>
            </a:pPr>
            <a:r>
              <a:rPr sz="1300" b="0" i="0">
                <a:solidFill>
                  <a:srgbClr val="0C1115"/>
                </a:solidFill>
                <a:latin typeface="Montserrat"/>
              </a:rPr>
              <a:t>Failure to manage = transaction limits, queue formation, payment delays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D4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0365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28016"/>
            <a:ext cx="11002975" cy="347472"/>
          </a:xfrm>
          <a:prstGeom prst="rect">
            <a:avLst/>
          </a:prstGeom>
          <a:noFill/>
          <a:ln>
            <a:noFill/>
          </a:ln>
        </p:spPr>
        <p:txBody>
          <a:bodyPr wrap="square">
            <a:spAutoFit/>
          </a:bodyPr>
          <a:lstStyle/>
          <a:p>
            <a:pPr algn="l">
              <a:spcBef>
                <a:spcPts val="0"/>
              </a:spcBef>
              <a:spcAft>
                <a:spcPts val="500"/>
              </a:spcAft>
            </a:pPr>
            <a:r>
              <a:rPr sz="1100" b="1" i="0">
                <a:solidFill>
                  <a:srgbClr val="6DA3D9"/>
                </a:solidFill>
                <a:latin typeface="Montserrat"/>
              </a:rPr>
              <a:t>2.2.2 — Controls</a:t>
            </a:r>
          </a:p>
        </p:txBody>
      </p:sp>
      <p:sp>
        <p:nvSpPr>
          <p:cNvPr id="6" name="TextBox 5"/>
          <p:cNvSpPr txBox="1"/>
          <p:nvPr/>
        </p:nvSpPr>
        <p:spPr>
          <a:xfrm>
            <a:off x="594360" y="420624"/>
            <a:ext cx="11002975" cy="621792"/>
          </a:xfrm>
          <a:prstGeom prst="rect">
            <a:avLst/>
          </a:prstGeom>
          <a:noFill/>
          <a:ln>
            <a:noFill/>
          </a:ln>
        </p:spPr>
        <p:txBody>
          <a:bodyPr wrap="square">
            <a:spAutoFit/>
          </a:bodyPr>
          <a:lstStyle/>
          <a:p>
            <a:pPr algn="l">
              <a:spcBef>
                <a:spcPts val="0"/>
              </a:spcBef>
              <a:spcAft>
                <a:spcPts val="500"/>
              </a:spcAft>
            </a:pPr>
            <a:r>
              <a:rPr sz="2800" b="1" i="0">
                <a:solidFill>
                  <a:srgbClr val="FFFFFF"/>
                </a:solidFill>
                <a:latin typeface="Georgia"/>
              </a:rPr>
              <a:t>Rethinking the Control Framework</a:t>
            </a:r>
          </a:p>
        </p:txBody>
      </p:sp>
      <p:sp>
        <p:nvSpPr>
          <p:cNvPr id="7" name="TextBox 6"/>
          <p:cNvSpPr txBox="1"/>
          <p:nvPr/>
        </p:nvSpPr>
        <p:spPr>
          <a:xfrm>
            <a:off x="594360" y="1170432"/>
            <a:ext cx="11002975" cy="5394960"/>
          </a:xfrm>
          <a:prstGeom prst="rect">
            <a:avLst/>
          </a:prstGeom>
          <a:noFill/>
          <a:ln>
            <a:noFill/>
          </a:ln>
        </p:spPr>
        <p:txBody>
          <a:bodyPr wrap="square">
            <a:spAutoFit/>
          </a:bodyPr>
          <a:lstStyle/>
          <a:p>
            <a:pPr algn="l">
              <a:spcBef>
                <a:spcPts val="0"/>
              </a:spcBef>
              <a:spcAft>
                <a:spcPts val="200"/>
              </a:spcAft>
            </a:pPr>
            <a:r>
              <a:rPr sz="1400" b="1" i="0">
                <a:solidFill>
                  <a:srgbClr val="1D4771"/>
                </a:solidFill>
                <a:latin typeface="Montserrat"/>
              </a:rPr>
              <a:t>Legacy / Batch Environment</a:t>
            </a:r>
          </a:p>
          <a:p>
            <a:pPr algn="l">
              <a:spcBef>
                <a:spcPts val="100"/>
              </a:spcBef>
              <a:spcAft>
                <a:spcPts val="500"/>
              </a:spcAft>
            </a:pPr>
            <a:r>
              <a:rPr sz="1300" b="0" i="0">
                <a:solidFill>
                  <a:srgbClr val="334E68"/>
                </a:solidFill>
                <a:latin typeface="Montserrat"/>
              </a:rPr>
              <a:t>Transactions can be reviewed before settlement occurs. Unusual activity can be investigated. Exceptions can be escalated. Fraud alerts can be assessed. Time functions as a risk-mitigation tool.</a:t>
            </a:r>
          </a:p>
          <a:p>
            <a:pPr algn="l">
              <a:spcBef>
                <a:spcPts val="600"/>
              </a:spcBef>
              <a:spcAft>
                <a:spcPts val="200"/>
              </a:spcAft>
            </a:pPr>
            <a:r>
              <a:rPr sz="1400" b="1" i="0">
                <a:solidFill>
                  <a:srgbClr val="1D4771"/>
                </a:solidFill>
                <a:latin typeface="Montserrat"/>
              </a:rPr>
              <a:t>Real-Time Environment</a:t>
            </a:r>
          </a:p>
          <a:p>
            <a:pPr algn="l">
              <a:spcBef>
                <a:spcPts val="100"/>
              </a:spcBef>
              <a:spcAft>
                <a:spcPts val="500"/>
              </a:spcAft>
            </a:pPr>
            <a:r>
              <a:rPr sz="1300" b="0" i="0">
                <a:solidFill>
                  <a:srgbClr val="334E68"/>
                </a:solidFill>
                <a:latin typeface="Montserrat"/>
              </a:rPr>
              <a:t>Payments initiated, processed, cleared, and settled within seconds. Institutions have less time to recognize problems, intervene, and prevent losses before a transaction becomes final.</a:t>
            </a:r>
          </a:p>
          <a:p>
            <a:pPr algn="l">
              <a:spcBef>
                <a:spcPts val="600"/>
              </a:spcBef>
              <a:spcAft>
                <a:spcPts val="100"/>
              </a:spcAft>
            </a:pPr>
            <a:r>
              <a:rPr sz="1000" b="1" i="0">
                <a:solidFill>
                  <a:srgbClr val="0365B2"/>
                </a:solidFill>
                <a:latin typeface="Montserrat"/>
              </a:rPr>
              <a:t>THE SHIFT</a:t>
            </a:r>
          </a:p>
          <a:p>
            <a:pPr algn="l">
              <a:spcBef>
                <a:spcPts val="0"/>
              </a:spcBef>
              <a:spcAft>
                <a:spcPts val="400"/>
              </a:spcAft>
            </a:pPr>
            <a:r>
              <a:rPr sz="1300" b="0" i="1">
                <a:solidFill>
                  <a:srgbClr val="0C1115"/>
                </a:solidFill>
                <a:latin typeface="Montserrat"/>
              </a:rPr>
              <a:t>From corrective controls (identifying problems after initiation) to preventative controls (preventing problematic transactions before they are initiated). This shift is operational, compliance-related, and organizational — not merely technological.</a:t>
            </a:r>
          </a:p>
          <a:p>
            <a:pPr algn="l">
              <a:spcBef>
                <a:spcPts val="600"/>
              </a:spcBef>
              <a:spcAft>
                <a:spcPts val="100"/>
              </a:spcAft>
            </a:pPr>
            <a:r>
              <a:rPr sz="1000" b="1" i="0">
                <a:solidFill>
                  <a:srgbClr val="6DA3D9"/>
                </a:solidFill>
                <a:latin typeface="Montserrat"/>
              </a:rPr>
              <a:t>EXAMINED NEXT — 2.2.2.1</a:t>
            </a:r>
          </a:p>
          <a:p>
            <a:pPr algn="l">
              <a:spcBef>
                <a:spcPts val="0"/>
              </a:spcBef>
              <a:spcAft>
                <a:spcPts val="400"/>
              </a:spcAft>
            </a:pPr>
            <a:r>
              <a:rPr sz="1300" b="0" i="0">
                <a:solidFill>
                  <a:srgbClr val="0C1115"/>
                </a:solidFill>
                <a:latin typeface="Montserrat"/>
              </a:rPr>
              <a:t>Fraud Controls — how real-time payments change when and how fraud risk must be managed</a:t>
            </a:r>
          </a:p>
          <a:p>
            <a:pPr algn="l">
              <a:spcBef>
                <a:spcPts val="600"/>
              </a:spcBef>
              <a:spcAft>
                <a:spcPts val="100"/>
              </a:spcAft>
            </a:pPr>
            <a:r>
              <a:rPr sz="1000" b="1" i="0">
                <a:solidFill>
                  <a:srgbClr val="6DA3D9"/>
                </a:solidFill>
                <a:latin typeface="Montserrat"/>
              </a:rPr>
              <a:t>EXAMINED NEXT — 2.2.2.2</a:t>
            </a:r>
          </a:p>
          <a:p>
            <a:pPr algn="l">
              <a:spcBef>
                <a:spcPts val="0"/>
              </a:spcBef>
              <a:spcAft>
                <a:spcPts val="400"/>
              </a:spcAft>
            </a:pPr>
            <a:r>
              <a:rPr sz="1300" b="0" i="0">
                <a:solidFill>
                  <a:srgbClr val="0C1115"/>
                </a:solidFill>
                <a:latin typeface="Montserrat"/>
              </a:rPr>
              <a:t>Financial Crime / AML Controls — managing sanctions, AML, and ATF compliance under compressed timelines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D4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0365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28016"/>
            <a:ext cx="11002975" cy="347472"/>
          </a:xfrm>
          <a:prstGeom prst="rect">
            <a:avLst/>
          </a:prstGeom>
          <a:noFill/>
          <a:ln>
            <a:noFill/>
          </a:ln>
        </p:spPr>
        <p:txBody>
          <a:bodyPr wrap="square">
            <a:spAutoFit/>
          </a:bodyPr>
          <a:lstStyle/>
          <a:p>
            <a:pPr algn="l">
              <a:spcBef>
                <a:spcPts val="0"/>
              </a:spcBef>
              <a:spcAft>
                <a:spcPts val="500"/>
              </a:spcAft>
            </a:pPr>
            <a:r>
              <a:rPr sz="1100" b="1" i="0">
                <a:solidFill>
                  <a:srgbClr val="6DA3D9"/>
                </a:solidFill>
                <a:latin typeface="Montserrat"/>
              </a:rPr>
              <a:t>2.2.2.1 — Fraud Controls</a:t>
            </a:r>
          </a:p>
        </p:txBody>
      </p:sp>
      <p:sp>
        <p:nvSpPr>
          <p:cNvPr id="6" name="TextBox 5"/>
          <p:cNvSpPr txBox="1"/>
          <p:nvPr/>
        </p:nvSpPr>
        <p:spPr>
          <a:xfrm>
            <a:off x="594360" y="420624"/>
            <a:ext cx="11002975" cy="621792"/>
          </a:xfrm>
          <a:prstGeom prst="rect">
            <a:avLst/>
          </a:prstGeom>
          <a:noFill/>
          <a:ln>
            <a:noFill/>
          </a:ln>
        </p:spPr>
        <p:txBody>
          <a:bodyPr wrap="square">
            <a:spAutoFit/>
          </a:bodyPr>
          <a:lstStyle/>
          <a:p>
            <a:pPr algn="l">
              <a:spcBef>
                <a:spcPts val="0"/>
              </a:spcBef>
              <a:spcAft>
                <a:spcPts val="500"/>
              </a:spcAft>
            </a:pPr>
            <a:r>
              <a:rPr sz="2800" b="1" i="0">
                <a:solidFill>
                  <a:srgbClr val="FFFFFF"/>
                </a:solidFill>
                <a:latin typeface="Georgia"/>
              </a:rPr>
              <a:t>Fraud in a Real-Time Environment</a:t>
            </a:r>
          </a:p>
        </p:txBody>
      </p:sp>
      <p:sp>
        <p:nvSpPr>
          <p:cNvPr id="7" name="TextBox 6"/>
          <p:cNvSpPr txBox="1"/>
          <p:nvPr/>
        </p:nvSpPr>
        <p:spPr>
          <a:xfrm>
            <a:off x="594360" y="1170432"/>
            <a:ext cx="11002975" cy="5394960"/>
          </a:xfrm>
          <a:prstGeom prst="rect">
            <a:avLst/>
          </a:prstGeom>
          <a:noFill/>
          <a:ln>
            <a:noFill/>
          </a:ln>
        </p:spPr>
        <p:txBody>
          <a:bodyPr wrap="square">
            <a:spAutoFit/>
          </a:bodyPr>
          <a:lstStyle/>
          <a:p>
            <a:pPr algn="l">
              <a:spcBef>
                <a:spcPts val="0"/>
              </a:spcBef>
              <a:spcAft>
                <a:spcPts val="400"/>
              </a:spcAft>
            </a:pPr>
            <a:r>
              <a:rPr sz="1500" b="0" i="0">
                <a:solidFill>
                  <a:srgbClr val="334E68"/>
                </a:solidFill>
                <a:latin typeface="Montserrat"/>
              </a:rPr>
              <a:t>In a batch environment, a suspicious transaction may be identified and intercepted before settlement. In a real-time environment, the same transaction may be cleared and settled before any meaningful manual review can occur. Institutions must increasingly rely on preventative, automated controls applied before payment instructions are released.</a:t>
            </a:r>
          </a:p>
          <a:p>
            <a:pPr algn="l">
              <a:spcBef>
                <a:spcPts val="600"/>
              </a:spcBef>
              <a:spcAft>
                <a:spcPts val="400"/>
              </a:spcAft>
            </a:pPr>
            <a:r>
              <a:rPr sz="1500" b="0" i="0">
                <a:solidFill>
                  <a:srgbClr val="334E68"/>
                </a:solidFill>
                <a:latin typeface="Montserrat"/>
              </a:rPr>
              <a:t>Three Practical Consequences</a:t>
            </a:r>
          </a:p>
          <a:p>
            <a:pPr algn="l">
              <a:spcBef>
                <a:spcPts val="600"/>
              </a:spcBef>
              <a:spcAft>
                <a:spcPts val="200"/>
              </a:spcAft>
            </a:pPr>
            <a:r>
              <a:rPr sz="1400" b="1" i="0">
                <a:solidFill>
                  <a:srgbClr val="1D4771"/>
                </a:solidFill>
                <a:latin typeface="Montserrat"/>
              </a:rPr>
              <a:t>Friction vs. Speed</a:t>
            </a:r>
          </a:p>
          <a:p>
            <a:pPr algn="l">
              <a:spcBef>
                <a:spcPts val="600"/>
              </a:spcBef>
              <a:spcAft>
                <a:spcPts val="400"/>
              </a:spcAft>
            </a:pPr>
            <a:r>
              <a:rPr sz="1500" b="0" i="0">
                <a:solidFill>
                  <a:srgbClr val="334E68"/>
                </a:solidFill>
                <a:latin typeface="Montserrat"/>
              </a:rPr>
              <a:t>How much friction is appropriate? Customers expect immediacy. But additional verification may be necessary to manage fraud risk. Balancing experience and security becomes a design decision.</a:t>
            </a:r>
          </a:p>
          <a:p>
            <a:pPr algn="l">
              <a:spcBef>
                <a:spcPts val="600"/>
              </a:spcBef>
              <a:spcAft>
                <a:spcPts val="200"/>
              </a:spcAft>
            </a:pPr>
            <a:r>
              <a:rPr sz="1400" b="1" i="0">
                <a:solidFill>
                  <a:srgbClr val="1D4771"/>
                </a:solidFill>
                <a:latin typeface="Montserrat"/>
              </a:rPr>
              <a:t>Automation &amp; Accountability</a:t>
            </a:r>
          </a:p>
          <a:p>
            <a:pPr algn="l">
              <a:spcBef>
                <a:spcPts val="600"/>
              </a:spcBef>
              <a:spcAft>
                <a:spcPts val="400"/>
              </a:spcAft>
            </a:pPr>
            <a:r>
              <a:rPr sz="1500" b="0" i="0">
                <a:solidFill>
                  <a:srgbClr val="334E68"/>
                </a:solidFill>
                <a:latin typeface="Montserrat"/>
              </a:rPr>
              <a:t>How much authority to delegate to automated systems? Fraud models operate at speed humans cannot match — but greater automation increases false positive risk and accountability gaps.</a:t>
            </a:r>
          </a:p>
          <a:p>
            <a:pPr algn="l">
              <a:spcBef>
                <a:spcPts val="600"/>
              </a:spcBef>
              <a:spcAft>
                <a:spcPts val="200"/>
              </a:spcAft>
            </a:pPr>
            <a:r>
              <a:rPr sz="1400" b="1" i="0">
                <a:solidFill>
                  <a:srgbClr val="1D4771"/>
                </a:solidFill>
                <a:latin typeface="Montserrat"/>
              </a:rPr>
              <a:t>Loss Allocation</a:t>
            </a:r>
          </a:p>
          <a:p>
            <a:pPr algn="l">
              <a:spcBef>
                <a:spcPts val="600"/>
              </a:spcBef>
              <a:spcAft>
                <a:spcPts val="400"/>
              </a:spcAft>
            </a:pPr>
            <a:r>
              <a:rPr sz="1500" b="0" i="0">
                <a:solidFill>
                  <a:srgbClr val="334E68"/>
                </a:solidFill>
                <a:latin typeface="Montserrat"/>
              </a:rPr>
              <a:t>How are fraud losses allocated when transactions are increasingly difficult to reverse? Recovery options narrow as settlement accelerates. Prevention becomes the primary line of defence.</a:t>
            </a:r>
          </a:p>
          <a:p>
            <a:pPr algn="l">
              <a:spcBef>
                <a:spcPts val="600"/>
              </a:spcBef>
              <a:spcAft>
                <a:spcPts val="100"/>
              </a:spcAft>
            </a:pPr>
            <a:r>
              <a:rPr sz="1000" b="1" i="0">
                <a:solidFill>
                  <a:srgbClr val="0365B2"/>
                </a:solidFill>
                <a:latin typeface="Montserrat"/>
              </a:rPr>
              <a:t>KEY TAKEAWAY</a:t>
            </a:r>
          </a:p>
          <a:p>
            <a:pPr algn="l">
              <a:spcBef>
                <a:spcPts val="0"/>
              </a:spcBef>
              <a:spcAft>
                <a:spcPts val="400"/>
              </a:spcAft>
            </a:pPr>
            <a:r>
              <a:rPr sz="1300" b="0" i="1">
                <a:solidFill>
                  <a:srgbClr val="0C1115"/>
                </a:solidFill>
                <a:latin typeface="Montserrat"/>
              </a:rPr>
              <a:t>Real-time payments do not eliminate fraud risk. They change the point at which and the ways in which fraud risk must be managed.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D4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0365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28016"/>
            <a:ext cx="11002975" cy="347472"/>
          </a:xfrm>
          <a:prstGeom prst="rect">
            <a:avLst/>
          </a:prstGeom>
          <a:noFill/>
          <a:ln>
            <a:noFill/>
          </a:ln>
        </p:spPr>
        <p:txBody>
          <a:bodyPr wrap="square">
            <a:spAutoFit/>
          </a:bodyPr>
          <a:lstStyle/>
          <a:p>
            <a:pPr algn="l">
              <a:spcBef>
                <a:spcPts val="0"/>
              </a:spcBef>
              <a:spcAft>
                <a:spcPts val="500"/>
              </a:spcAft>
            </a:pPr>
            <a:r>
              <a:rPr sz="1100" b="1" i="0">
                <a:solidFill>
                  <a:srgbClr val="6DA3D9"/>
                </a:solidFill>
                <a:latin typeface="Montserrat"/>
              </a:rPr>
              <a:t>2.2.2.2 — Financial Crime Controls</a:t>
            </a:r>
          </a:p>
        </p:txBody>
      </p:sp>
      <p:sp>
        <p:nvSpPr>
          <p:cNvPr id="6" name="TextBox 5"/>
          <p:cNvSpPr txBox="1"/>
          <p:nvPr/>
        </p:nvSpPr>
        <p:spPr>
          <a:xfrm>
            <a:off x="594360" y="420624"/>
            <a:ext cx="11002975" cy="621792"/>
          </a:xfrm>
          <a:prstGeom prst="rect">
            <a:avLst/>
          </a:prstGeom>
          <a:noFill/>
          <a:ln>
            <a:noFill/>
          </a:ln>
        </p:spPr>
        <p:txBody>
          <a:bodyPr wrap="square">
            <a:spAutoFit/>
          </a:bodyPr>
          <a:lstStyle/>
          <a:p>
            <a:pPr algn="l">
              <a:spcBef>
                <a:spcPts val="0"/>
              </a:spcBef>
              <a:spcAft>
                <a:spcPts val="500"/>
              </a:spcAft>
            </a:pPr>
            <a:r>
              <a:rPr sz="2800" b="1" i="0">
                <a:solidFill>
                  <a:srgbClr val="FFFFFF"/>
                </a:solidFill>
                <a:latin typeface="Georgia"/>
              </a:rPr>
              <a:t>AML, Sanctions &amp; ATF in Real Time</a:t>
            </a:r>
          </a:p>
        </p:txBody>
      </p:sp>
      <p:sp>
        <p:nvSpPr>
          <p:cNvPr id="7" name="TextBox 6"/>
          <p:cNvSpPr txBox="1"/>
          <p:nvPr/>
        </p:nvSpPr>
        <p:spPr>
          <a:xfrm>
            <a:off x="594360" y="1170432"/>
            <a:ext cx="11002975" cy="5394960"/>
          </a:xfrm>
          <a:prstGeom prst="rect">
            <a:avLst/>
          </a:prstGeom>
          <a:noFill/>
          <a:ln>
            <a:noFill/>
          </a:ln>
        </p:spPr>
        <p:txBody>
          <a:bodyPr wrap="square">
            <a:spAutoFit/>
          </a:bodyPr>
          <a:lstStyle/>
          <a:p>
            <a:pPr algn="l">
              <a:spcBef>
                <a:spcPts val="0"/>
              </a:spcBef>
              <a:spcAft>
                <a:spcPts val="100"/>
              </a:spcAft>
            </a:pPr>
            <a:r>
              <a:rPr sz="1000" b="1" i="0">
                <a:solidFill>
                  <a:srgbClr val="0365B2"/>
                </a:solidFill>
                <a:latin typeface="Montserrat"/>
              </a:rPr>
              <a:t>THE PRINCIPLE</a:t>
            </a:r>
          </a:p>
          <a:p>
            <a:pPr algn="l">
              <a:spcBef>
                <a:spcPts val="0"/>
              </a:spcBef>
              <a:spcAft>
                <a:spcPts val="400"/>
              </a:spcAft>
            </a:pPr>
            <a:r>
              <a:rPr sz="1300" b="0" i="1">
                <a:solidFill>
                  <a:srgbClr val="0C1115"/>
                </a:solidFill>
                <a:latin typeface="Montserrat"/>
              </a:rPr>
              <a:t>Real-time payments do not reduce AML, ATF, or sanctions compliance obligations. They reduce the amount of time available to satisfy them — creating pressure to shift from detective to preventative compliance controls.</a:t>
            </a:r>
          </a:p>
          <a:p>
            <a:pPr algn="l">
              <a:spcBef>
                <a:spcPts val="600"/>
              </a:spcBef>
              <a:spcAft>
                <a:spcPts val="400"/>
              </a:spcAft>
            </a:pPr>
            <a:r>
              <a:rPr sz="1500" b="0" i="0">
                <a:solidFill>
                  <a:srgbClr val="334E68"/>
                </a:solidFill>
                <a:latin typeface="Montserrat"/>
              </a:rPr>
              <a:t>Four Governance Challenges</a:t>
            </a:r>
          </a:p>
          <a:p>
            <a:pPr algn="l">
              <a:spcBef>
                <a:spcPts val="600"/>
              </a:spcBef>
              <a:spcAft>
                <a:spcPts val="100"/>
              </a:spcAft>
            </a:pPr>
            <a:r>
              <a:rPr sz="1000" b="1" i="0">
                <a:solidFill>
                  <a:srgbClr val="6DA3D9"/>
                </a:solidFill>
                <a:latin typeface="Montserrat"/>
              </a:rPr>
              <a:t>CHALLENGE 1 — AUTOMATION VS. HUMAN REVIEW</a:t>
            </a:r>
          </a:p>
          <a:p>
            <a:pPr algn="l">
              <a:spcBef>
                <a:spcPts val="0"/>
              </a:spcBef>
              <a:spcAft>
                <a:spcPts val="400"/>
              </a:spcAft>
            </a:pPr>
            <a:r>
              <a:rPr sz="1300" b="0" i="0">
                <a:solidFill>
                  <a:srgbClr val="0C1115"/>
                </a:solidFill>
                <a:latin typeface="Montserrat"/>
              </a:rPr>
              <a:t>Which compliance decisions can be automated? Which require human oversight? Real-time environments reduce opportunities to investigate before settlement, creating pressure to automate while maintaining governance.</a:t>
            </a:r>
          </a:p>
          <a:p>
            <a:pPr algn="l">
              <a:spcBef>
                <a:spcPts val="600"/>
              </a:spcBef>
              <a:spcAft>
                <a:spcPts val="100"/>
              </a:spcAft>
            </a:pPr>
            <a:r>
              <a:rPr sz="1000" b="1" i="0">
                <a:solidFill>
                  <a:srgbClr val="6DA3D9"/>
                </a:solidFill>
                <a:latin typeface="Montserrat"/>
              </a:rPr>
              <a:t>CHALLENGE 2 — ESCALATION PROCEDURES</a:t>
            </a:r>
          </a:p>
          <a:p>
            <a:pPr algn="l">
              <a:spcBef>
                <a:spcPts val="0"/>
              </a:spcBef>
              <a:spcAft>
                <a:spcPts val="400"/>
              </a:spcAft>
            </a:pPr>
            <a:r>
              <a:rPr sz="1300" b="0" i="0">
                <a:solidFill>
                  <a:srgbClr val="0C1115"/>
                </a:solidFill>
                <a:latin typeface="Montserrat"/>
              </a:rPr>
              <a:t>Many compliance frameworks assume hours or days for review. Real-time systems require decision-making frameworks capable of operating within seconds — including sanctions screening.</a:t>
            </a:r>
          </a:p>
          <a:p>
            <a:pPr algn="l">
              <a:spcBef>
                <a:spcPts val="600"/>
              </a:spcBef>
              <a:spcAft>
                <a:spcPts val="100"/>
              </a:spcAft>
            </a:pPr>
            <a:r>
              <a:rPr sz="1000" b="1" i="0">
                <a:solidFill>
                  <a:srgbClr val="6DA3D9"/>
                </a:solidFill>
                <a:latin typeface="Montserrat"/>
              </a:rPr>
              <a:t>CHALLENGE 3 — CUSTOMER EXPECTATIONS</a:t>
            </a:r>
          </a:p>
          <a:p>
            <a:pPr algn="l">
              <a:spcBef>
                <a:spcPts val="0"/>
              </a:spcBef>
              <a:spcAft>
                <a:spcPts val="400"/>
              </a:spcAft>
            </a:pPr>
            <a:r>
              <a:rPr sz="1300" b="0" i="0">
                <a:solidFill>
                  <a:srgbClr val="0C1115"/>
                </a:solidFill>
                <a:latin typeface="Montserrat"/>
              </a:rPr>
              <a:t>Situations will arise where speed, convenience, and risk management are not perfectly aligned. Compliance frameworks must account for this tension.</a:t>
            </a:r>
          </a:p>
          <a:p>
            <a:pPr algn="l">
              <a:spcBef>
                <a:spcPts val="600"/>
              </a:spcBef>
              <a:spcAft>
                <a:spcPts val="100"/>
              </a:spcAft>
            </a:pPr>
            <a:r>
              <a:rPr sz="1000" b="1" i="0">
                <a:solidFill>
                  <a:srgbClr val="6DA3D9"/>
                </a:solidFill>
                <a:latin typeface="Montserrat"/>
              </a:rPr>
              <a:t>CHALLENGE 4 — 24 / 7 OPERATIONAL RESILIENCE</a:t>
            </a:r>
          </a:p>
          <a:p>
            <a:pPr algn="l">
              <a:spcBef>
                <a:spcPts val="0"/>
              </a:spcBef>
              <a:spcAft>
                <a:spcPts val="400"/>
              </a:spcAft>
            </a:pPr>
            <a:r>
              <a:rPr sz="1300" b="0" i="0">
                <a:solidFill>
                  <a:srgbClr val="0C1115"/>
                </a:solidFill>
                <a:latin typeface="Montserrat"/>
              </a:rPr>
              <a:t>Sanctions controls, fraud monitoring, alert management, and escalation mechanisms must function continuously — outside traditional business hours. A 9–5 framework is not sufficient.</a:t>
            </a:r>
          </a:p>
          <a:p>
            <a:pPr algn="l">
              <a:spcBef>
                <a:spcPts val="600"/>
              </a:spcBef>
              <a:spcAft>
                <a:spcPts val="100"/>
              </a:spcAft>
            </a:pPr>
            <a:r>
              <a:rPr sz="1000" b="1" i="0">
                <a:solidFill>
                  <a:srgbClr val="0365B2"/>
                </a:solidFill>
                <a:latin typeface="Montserrat"/>
              </a:rPr>
              <a:t>KEY TAKEAWAY</a:t>
            </a:r>
          </a:p>
          <a:p>
            <a:pPr algn="l">
              <a:spcBef>
                <a:spcPts val="0"/>
              </a:spcBef>
              <a:spcAft>
                <a:spcPts val="400"/>
              </a:spcAft>
            </a:pPr>
            <a:r>
              <a:rPr sz="1300" b="0" i="1">
                <a:solidFill>
                  <a:srgbClr val="0C1115"/>
                </a:solidFill>
                <a:latin typeface="Montserrat"/>
              </a:rPr>
              <a:t>Institutions that adapt most successfully will redesign their compliance frameworks to operate effectively within a real-time environment — rather than applying batch-era controls to real-time payment systems.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D4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0365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28016"/>
            <a:ext cx="11002975" cy="347472"/>
          </a:xfrm>
          <a:prstGeom prst="rect">
            <a:avLst/>
          </a:prstGeom>
          <a:noFill/>
          <a:ln>
            <a:noFill/>
          </a:ln>
        </p:spPr>
        <p:txBody>
          <a:bodyPr wrap="square">
            <a:spAutoFit/>
          </a:bodyPr>
          <a:lstStyle/>
          <a:p>
            <a:pPr algn="l">
              <a:spcBef>
                <a:spcPts val="0"/>
              </a:spcBef>
              <a:spcAft>
                <a:spcPts val="500"/>
              </a:spcAft>
            </a:pPr>
            <a:r>
              <a:rPr sz="1100" b="1" i="0">
                <a:solidFill>
                  <a:srgbClr val="6DA3D9"/>
                </a:solidFill>
                <a:latin typeface="Montserrat"/>
              </a:rPr>
              <a:t>2.2.3 — Responsibility</a:t>
            </a:r>
          </a:p>
        </p:txBody>
      </p:sp>
      <p:sp>
        <p:nvSpPr>
          <p:cNvPr id="6" name="TextBox 5"/>
          <p:cNvSpPr txBox="1"/>
          <p:nvPr/>
        </p:nvSpPr>
        <p:spPr>
          <a:xfrm>
            <a:off x="594360" y="420624"/>
            <a:ext cx="11002975" cy="621792"/>
          </a:xfrm>
          <a:prstGeom prst="rect">
            <a:avLst/>
          </a:prstGeom>
          <a:noFill/>
          <a:ln>
            <a:noFill/>
          </a:ln>
        </p:spPr>
        <p:txBody>
          <a:bodyPr wrap="square">
            <a:spAutoFit/>
          </a:bodyPr>
          <a:lstStyle/>
          <a:p>
            <a:pPr algn="l">
              <a:spcBef>
                <a:spcPts val="0"/>
              </a:spcBef>
              <a:spcAft>
                <a:spcPts val="500"/>
              </a:spcAft>
            </a:pPr>
            <a:r>
              <a:rPr sz="2800" b="1" i="0">
                <a:solidFill>
                  <a:srgbClr val="FFFFFF"/>
                </a:solidFill>
                <a:latin typeface="Georgia"/>
              </a:rPr>
              <a:t>How Responsibility Is Allocated</a:t>
            </a:r>
          </a:p>
        </p:txBody>
      </p:sp>
      <p:sp>
        <p:nvSpPr>
          <p:cNvPr id="7" name="TextBox 6"/>
          <p:cNvSpPr txBox="1"/>
          <p:nvPr/>
        </p:nvSpPr>
        <p:spPr>
          <a:xfrm>
            <a:off x="594360" y="1170432"/>
            <a:ext cx="11002975" cy="5394960"/>
          </a:xfrm>
          <a:prstGeom prst="rect">
            <a:avLst/>
          </a:prstGeom>
          <a:noFill/>
          <a:ln>
            <a:noFill/>
          </a:ln>
        </p:spPr>
        <p:txBody>
          <a:bodyPr wrap="square">
            <a:spAutoFit/>
          </a:bodyPr>
          <a:lstStyle/>
          <a:p>
            <a:pPr algn="l">
              <a:spcBef>
                <a:spcPts val="0"/>
              </a:spcBef>
              <a:spcAft>
                <a:spcPts val="400"/>
              </a:spcAft>
            </a:pPr>
            <a:r>
              <a:rPr sz="1500" b="0" i="0">
                <a:solidFill>
                  <a:srgbClr val="334E68"/>
                </a:solidFill>
                <a:latin typeface="Montserrat"/>
              </a:rPr>
              <a:t>A single payment transaction may involve a customer, a financial institution, a payment service provider, a technology platform, a sponsor institution, a settlement participant, and the system operator. Responsibility is distributed — and indirect participation does not transfer it.</a:t>
            </a:r>
          </a:p>
          <a:p>
            <a:pPr algn="l">
              <a:spcBef>
                <a:spcPts val="600"/>
              </a:spcBef>
              <a:spcAft>
                <a:spcPts val="400"/>
              </a:spcAft>
            </a:pPr>
            <a:r>
              <a:rPr sz="1500" b="0" i="0">
                <a:solidFill>
                  <a:srgbClr val="334E68"/>
                </a:solidFill>
                <a:latin typeface="Montserrat"/>
              </a:rPr>
              <a:t>Questions That Must Be Answered</a:t>
            </a:r>
          </a:p>
          <a:p>
            <a:pPr algn="l">
              <a:spcBef>
                <a:spcPts val="600"/>
              </a:spcBef>
              <a:spcAft>
                <a:spcPts val="100"/>
              </a:spcAft>
            </a:pPr>
            <a:r>
              <a:rPr sz="1000" b="1" i="0">
                <a:solidFill>
                  <a:srgbClr val="0365B2"/>
                </a:solidFill>
                <a:latin typeface="Montserrat"/>
              </a:rPr>
              <a:t>HOW ANSWERS ARE DETERMINED</a:t>
            </a:r>
          </a:p>
          <a:p>
            <a:pPr algn="l">
              <a:spcBef>
                <a:spcPts val="0"/>
              </a:spcBef>
              <a:spcAft>
                <a:spcPts val="400"/>
              </a:spcAft>
            </a:pPr>
            <a:r>
              <a:rPr sz="1300" b="0" i="1">
                <a:solidFill>
                  <a:srgbClr val="0C1115"/>
                </a:solidFill>
                <a:latin typeface="Montserrat"/>
              </a:rPr>
              <a:t>Legislation, payment-system rules, participation agreements, contractual arrangements, and operational practices — together, these allocate responsibility among participants.</a:t>
            </a:r>
          </a:p>
          <a:p>
            <a:pPr algn="l">
              <a:spcBef>
                <a:spcPts val="600"/>
              </a:spcBef>
              <a:spcAft>
                <a:spcPts val="100"/>
              </a:spcAft>
            </a:pPr>
            <a:r>
              <a:rPr sz="1000" b="1" i="0">
                <a:solidFill>
                  <a:srgbClr val="0365B2"/>
                </a:solidFill>
                <a:latin typeface="Montserrat"/>
              </a:rPr>
              <a:t>THE CORE PRINCIPLE</a:t>
            </a:r>
          </a:p>
          <a:p>
            <a:pPr algn="l">
              <a:spcBef>
                <a:spcPts val="0"/>
              </a:spcBef>
              <a:spcAft>
                <a:spcPts val="400"/>
              </a:spcAft>
            </a:pPr>
            <a:r>
              <a:rPr sz="1300" b="0" i="1">
                <a:solidFill>
                  <a:srgbClr val="0C1115"/>
                </a:solidFill>
                <a:latin typeface="Montserrat"/>
              </a:rPr>
              <a:t>Real-time payment systems do not eliminate risk. They redistribute it. Organizations must understand the statutory, operational, and contractual frameworks that allocate responsibility before joining the system.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