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02975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6DA3D9"/>
                </a:solidFill>
                <a:latin typeface="Montserrat"/>
              </a:rPr>
              <a:t>Levine Law · Payments Law · Module 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1002975" cy="2011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5400" b="1" i="0">
                <a:solidFill>
                  <a:srgbClr val="FFFFFF"/>
                </a:solidFill>
                <a:latin typeface="Georgia"/>
              </a:rPr>
              <a:t>Canadian PaymentsLaw &amp;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931920"/>
            <a:ext cx="777240" cy="5029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187952"/>
            <a:ext cx="11002975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0" i="0">
                <a:solidFill>
                  <a:srgbClr val="AABBCC"/>
                </a:solidFill>
                <a:latin typeface="Montserrat"/>
              </a:rPr>
              <a:t>Legal Framework · Payment Systems · Regulatory Hierarchy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743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0" b="1" i="0">
                <a:solidFill>
                  <a:srgbClr val="CCDBEA"/>
                </a:solidFill>
                <a:latin typeface="Montserrat"/>
              </a:rPr>
              <a:t>1.1.1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911535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200" b="1" i="0">
                <a:solidFill>
                  <a:srgbClr val="1D4771"/>
                </a:solidFill>
                <a:latin typeface="Georgia"/>
              </a:rPr>
              <a:t>The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10911535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334E68"/>
                </a:solidFill>
                <a:latin typeface="Montserrat"/>
              </a:rPr>
              <a:t>Canada's payments framework rests on two federal statutes — supported by an operational layer of rulebooks, participation agreements, settlement arrangements, and technical standards.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11002975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DA3D9"/>
                </a:solidFill>
                <a:latin typeface="Montserrat"/>
              </a:rPr>
              <a:t>1.1.1 — The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0624"/>
            <a:ext cx="11002975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The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1002975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334E68"/>
                </a:solidFill>
                <a:latin typeface="Montserrat"/>
              </a:rPr>
              <a:t>The statutes create the framework. The operational layer is built on four supporting pillars.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1D4771"/>
                </a:solidFill>
                <a:latin typeface="Montserrat"/>
              </a:rPr>
              <a:t>Rulebooks</a:t>
            </a:r>
          </a:p>
          <a:p>
            <a:pPr algn="l">
              <a:spcBef>
                <a:spcPts val="100"/>
              </a:spcBef>
              <a:spcAft>
                <a:spcPts val="500"/>
              </a:spcAft>
            </a:pPr>
            <a:r>
              <a:rPr sz="1300" b="0" i="0">
                <a:solidFill>
                  <a:srgbClr val="334E68"/>
                </a:solidFill>
                <a:latin typeface="Montserrat"/>
              </a:rPr>
              <a:t>Binding rules governing system operation and participant conduct — promulgated by Payments Canada and RTR governance bodies.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1D4771"/>
                </a:solidFill>
                <a:latin typeface="Montserrat"/>
              </a:rPr>
              <a:t>Participation Agreements</a:t>
            </a:r>
          </a:p>
          <a:p>
            <a:pPr algn="l">
              <a:spcBef>
                <a:spcPts val="100"/>
              </a:spcBef>
              <a:spcAft>
                <a:spcPts val="500"/>
              </a:spcAft>
            </a:pPr>
            <a:r>
              <a:rPr sz="1300" b="0" i="0">
                <a:solidFill>
                  <a:srgbClr val="334E68"/>
                </a:solidFill>
                <a:latin typeface="Montserrat"/>
              </a:rPr>
              <a:t>Contractual instruments executed by each participant on joining a payment system. They operationalize the rulebook at the participant level.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1D4771"/>
                </a:solidFill>
                <a:latin typeface="Montserrat"/>
              </a:rPr>
              <a:t>Settlement Arrangements</a:t>
            </a:r>
          </a:p>
          <a:p>
            <a:pPr algn="l">
              <a:spcBef>
                <a:spcPts val="100"/>
              </a:spcBef>
              <a:spcAft>
                <a:spcPts val="500"/>
              </a:spcAft>
            </a:pPr>
            <a:r>
              <a:rPr sz="1300" b="0" i="0">
                <a:solidFill>
                  <a:srgbClr val="334E68"/>
                </a:solidFill>
                <a:latin typeface="Montserrat"/>
              </a:rPr>
              <a:t>Agreements governing how funds are moved and settled — including Bank of Canada settlement accounts and funding commitments.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1D4771"/>
                </a:solidFill>
                <a:latin typeface="Montserrat"/>
              </a:rPr>
              <a:t>Technical Standards</a:t>
            </a:r>
          </a:p>
          <a:p>
            <a:pPr algn="l">
              <a:spcBef>
                <a:spcPts val="100"/>
              </a:spcBef>
              <a:spcAft>
                <a:spcPts val="500"/>
              </a:spcAft>
            </a:pPr>
            <a:r>
              <a:rPr sz="1300" b="0" i="0">
                <a:solidFill>
                  <a:srgbClr val="334E68"/>
                </a:solidFill>
                <a:latin typeface="Montserrat"/>
              </a:rPr>
              <a:t>ISO 20022, certification requirements, connectivity protocols, and fraud services manuals that govern system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11002975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DA3D9"/>
                </a:solidFill>
                <a:latin typeface="Montserrat"/>
              </a:rPr>
              <a:t>1.1.1 — The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0624"/>
            <a:ext cx="11002975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The Governing Statutes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1002975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D4771"/>
                </a:solidFill>
                <a:latin typeface="Montserrat"/>
              </a:rPr>
              <a:t>Canadian Payments Act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Establishes Payments Canada as the national payment association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Governs the operation of Canada's payment clearing and settlement systems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Sets the mandate, membership structure, and governance of Payments Canada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0365B2"/>
                </a:solidFill>
                <a:latin typeface="Montserrat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0C1115"/>
                </a:solidFill>
                <a:latin typeface="Montserrat"/>
              </a:rPr>
              <a:t>Governs the operator of the rails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1D4771"/>
                </a:solidFill>
                <a:latin typeface="Montserrat"/>
              </a:rPr>
              <a:t>Payment Clearing and Settlement Act (PCSA)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Grants the Bank of Canada oversight authority over payment and settlement systems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Applies to systems designated as systemically important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Authorizes the Bank to issue directives on system design and risk controls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0365B2"/>
                </a:solidFill>
                <a:latin typeface="Montserrat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0C1115"/>
                </a:solidFill>
                <a:latin typeface="Montserrat"/>
              </a:rPr>
              <a:t>Sets governance expectations for the safety and stability of the rails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DA3D9"/>
                </a:solidFill>
                <a:latin typeface="Montserrat"/>
              </a:rPr>
              <a:t>In a Nutshell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Two statutes.Two distinct roles.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914400"/>
            <a:ext cx="6613855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D4771"/>
                </a:solidFill>
                <a:latin typeface="Montserrat"/>
              </a:rPr>
              <a:t>Canadian Payments 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1280160"/>
            <a:ext cx="6613855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334E68"/>
                </a:solidFill>
                <a:latin typeface="Montserrat"/>
              </a:rPr>
              <a:t>Governs an operator for the rails — Payments Canada, the institution responsible for Canada's clearing and settlement infrastructure.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743200"/>
            <a:ext cx="6613855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D4771"/>
                </a:solidFill>
                <a:latin typeface="Montserrat"/>
              </a:rPr>
              <a:t>Payment Clearing and Settlement 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3108960"/>
            <a:ext cx="6613855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334E68"/>
                </a:solidFill>
                <a:latin typeface="Montserrat"/>
              </a:rPr>
              <a:t>Sets governance expectations for the safety and stability of the rails — Bank of Canada oversight over systemically important payment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743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0" b="1" i="0">
                <a:solidFill>
                  <a:srgbClr val="CCDBEA"/>
                </a:solidFill>
                <a:latin typeface="Montserrat"/>
              </a:rPr>
              <a:t>1.1.2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911535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200" b="1" i="0">
                <a:solidFill>
                  <a:srgbClr val="1D4771"/>
                </a:solidFill>
                <a:latin typeface="Georgia"/>
              </a:rPr>
              <a:t>Payment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10911535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334E68"/>
                </a:solidFill>
                <a:latin typeface="Montserrat"/>
              </a:rPr>
              <a:t>Canada's clearing and settlement infrastructure spans three primary systems — each designed for a different tier of payment activity.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11002975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DA3D9"/>
                </a:solidFill>
                <a:latin typeface="Montserrat"/>
              </a:rPr>
              <a:t>1.1.2 — Payment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0624"/>
            <a:ext cx="11002975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Lynx — High-Value Settlement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1002975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SETTLEMENT MODEL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Real-Time Gross Settlement (RTGS) — each transaction settled individually and immediately, in real time.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TARGET USE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Large-value and time-critical payments: interbank transfers, securities settlement, large commercial flows.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NOT DESIGNED FOR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Consumer retail payments. Lynx is not a retail payment rail — it is a high-value wholesale system.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THE GAP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Lynx provides real-time settlement for large transactions. Canada does not yet have a broadly accessible, real-time retail payment rail.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11002975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DA3D9"/>
                </a:solidFill>
                <a:latin typeface="Montserrat"/>
              </a:rPr>
              <a:t>1.1.2 — Payment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0624"/>
            <a:ext cx="11002975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ACSS — Retail Batch Clearing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1002975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PROCESSING MODEL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Batch-based — transactions are accumulated and cleared in cycles, not individually or in real time.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SETTLEMENT TIMING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Deferred settlement — finality occurs after the clearing cycle, not at the moment of the payment instruction.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COMMON USES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Pre-authorized debits, direct deposits, cheque clearing, and routine electronic funds transfers.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MARKET POSITION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Despite the emergence of newer systems, many businesses continue to rely heavily on ACSS rails for their payment flows.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11002975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DA3D9"/>
                </a:solidFill>
                <a:latin typeface="Montserrat"/>
              </a:rPr>
              <a:t>1.1.2 — Payment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0624"/>
            <a:ext cx="11002975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Interac e-Transfer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1002975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USER EXPERIENCE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Near-instant payment experience for end users — funds appear to arrive immediately at the recipient's account.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ACCESS MODEL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Available exclusively through participating financial institutions — not a directly accessible open network for non-bank players.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TECHNICAL REALITY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Interac e-Transfer is not a true open-access Real-Time Payment (RTP) system from a technical or regulatory architecture perspective.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IMPLICATION FOR FINTECHS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Interac fills the retail real-time gap today, but its closed-access structure limits direct participation by credit unions and fintechs.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743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0" b="1" i="0">
                <a:solidFill>
                  <a:srgbClr val="CCDBEA"/>
                </a:solidFill>
                <a:latin typeface="Montserrat"/>
              </a:rPr>
              <a:t>1.1.3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911535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200" b="1" i="0">
                <a:solidFill>
                  <a:srgbClr val="1D4771"/>
                </a:solidFill>
                <a:latin typeface="Georgia"/>
              </a:rPr>
              <a:t>Law Meets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10911535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334E68"/>
                </a:solidFill>
                <a:latin typeface="Montserrat"/>
              </a:rPr>
              <a:t>Participation in any Canadian payment system creates obligations at five distinct levels — from federal statute down to technical certification standards.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11002975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DA3D9"/>
                </a:solidFill>
                <a:latin typeface="Montserrat"/>
              </a:rPr>
              <a:t>1.1.3 — Regulatory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0624"/>
            <a:ext cx="11002975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Five Levels of Obligation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1002975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D4771"/>
                </a:solidFill>
                <a:latin typeface="Montserrat"/>
              </a:rPr>
              <a:t>1. Statute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Canadian Payments Act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Payment Clearing &amp; Settlement Act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1D4771"/>
                </a:solidFill>
                <a:latin typeface="Montserrat"/>
              </a:rPr>
              <a:t>2. Governance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Payments Canada By-laws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RTR By-laws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1D4771"/>
                </a:solidFill>
                <a:latin typeface="Montserrat"/>
              </a:rPr>
              <a:t>3. Binding Rules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Payments Canada Rules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RTR Rules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1D4771"/>
                </a:solidFill>
                <a:latin typeface="Montserrat"/>
              </a:rPr>
              <a:t>4. Participation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Membership Agreements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RTR Participation Agreements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Settlement Agent Agreements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BoC Settlement Account Agreement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1D4771"/>
                </a:solidFill>
                <a:latin typeface="Montserrat"/>
              </a:rPr>
              <a:t>5. Technical Standards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ISO 20022 Specifications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Certification Requirements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Connectivity Standards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Fraud Services Manuals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11002975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DA3D9"/>
                </a:solidFill>
                <a:latin typeface="Montserrat"/>
              </a:rPr>
              <a:t>1.1.3 — Key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0624"/>
            <a:ext cx="11002975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Where Obligations Actually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1002975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334E68"/>
                </a:solidFill>
                <a:latin typeface="Montserrat"/>
              </a:rPr>
              <a:t>Most operational obligations governing RTR participation are not found in legislation. They live in: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RTR By-laws and RTR Rulebook — the primary governance layer setting rights, obligations, and risk allocation for real-time rail participants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Participant-specific participation agreements — obligations tailored to each participant's role and access tier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Settlement account, funding, and liquidity arrangements — the financial obligations that underpin settlement finality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Technical standards — ISO 20022, certification, connectivity, and fraud services requirements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0365B2"/>
                </a:solidFill>
                <a:latin typeface="Montserrat"/>
              </a:rPr>
              <a:t>PRACTICAL SIGNIFICANCE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0C1115"/>
                </a:solidFill>
                <a:latin typeface="Montserrat"/>
              </a:rPr>
              <a:t>This is where credit unions and fintechs will ultimately look for the practical rights, obligations, and risk allocations governing their RTR participation.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