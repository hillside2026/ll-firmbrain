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274320"/>
            <a:ext cx="5029200" cy="2743200"/>
          </a:xfrm>
          <a:prstGeom prst="rect">
            <a:avLst/>
          </a:prstGeom>
          <a:noFill/>
          <a:ln>
            <a:noFill/>
          </a:ln>
        </p:spPr>
        <p:txBody>
          <a:bodyPr wrap="square">
            <a:spAutoFit/>
          </a:bodyPr>
          <a:lstStyle/>
          <a:p>
            <a:pPr algn="l">
              <a:spcBef>
                <a:spcPts val="0"/>
              </a:spcBef>
              <a:spcAft>
                <a:spcPts val="500"/>
              </a:spcAft>
            </a:pPr>
            <a:r>
              <a:rPr sz="11000" b="1" i="0">
                <a:solidFill>
                  <a:srgbClr val="CCDBEA"/>
                </a:solidFill>
                <a:latin typeface="Montserrat"/>
              </a:rPr>
              <a:t>3.1</a:t>
            </a:r>
          </a:p>
        </p:txBody>
      </p:sp>
      <p:sp>
        <p:nvSpPr>
          <p:cNvPr id="6" name="TextBox 5"/>
          <p:cNvSpPr txBox="1"/>
          <p:nvPr/>
        </p:nvSpPr>
        <p:spPr>
          <a:xfrm>
            <a:off x="685800" y="1828800"/>
            <a:ext cx="10911535" cy="1371600"/>
          </a:xfrm>
          <a:prstGeom prst="rect">
            <a:avLst/>
          </a:prstGeom>
          <a:noFill/>
          <a:ln>
            <a:noFill/>
          </a:ln>
        </p:spPr>
        <p:txBody>
          <a:bodyPr wrap="square">
            <a:spAutoFit/>
          </a:bodyPr>
          <a:lstStyle/>
          <a:p>
            <a:pPr algn="l">
              <a:spcBef>
                <a:spcPts val="0"/>
              </a:spcBef>
              <a:spcAft>
                <a:spcPts val="500"/>
              </a:spcAft>
            </a:pPr>
            <a:r>
              <a:rPr sz="4200" b="1" i="0">
                <a:solidFill>
                  <a:srgbClr val="1D4771"/>
                </a:solidFill>
                <a:latin typeface="Georgia"/>
              </a:rPr>
              <a:t>Operational Risks</a:t>
            </a:r>
          </a:p>
        </p:txBody>
      </p:sp>
      <p:sp>
        <p:nvSpPr>
          <p:cNvPr id="7" name="TextBox 6"/>
          <p:cNvSpPr txBox="1"/>
          <p:nvPr/>
        </p:nvSpPr>
        <p:spPr>
          <a:xfrm>
            <a:off x="685800" y="3246120"/>
            <a:ext cx="10911535" cy="1828800"/>
          </a:xfrm>
          <a:prstGeom prst="rect">
            <a:avLst/>
          </a:prstGeom>
          <a:noFill/>
          <a:ln>
            <a:noFill/>
          </a:ln>
        </p:spPr>
        <p:txBody>
          <a:bodyPr wrap="square">
            <a:spAutoFit/>
          </a:bodyPr>
          <a:lstStyle/>
          <a:p>
            <a:pPr algn="l">
              <a:spcBef>
                <a:spcPts val="0"/>
              </a:spcBef>
              <a:spcAft>
                <a:spcPts val="500"/>
              </a:spcAft>
            </a:pPr>
            <a:r>
              <a:rPr sz="2000" b="0" i="0">
                <a:solidFill>
                  <a:srgbClr val="334E68"/>
                </a:solidFill>
                <a:latin typeface="Montserrat"/>
              </a:rPr>
              <a:t>Two categories of operational risk become particularly significant within real-time payment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3.1.1 — System Outage</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Not All Outages Are the Same</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Because payments are expected to be available continuously, outages now have immediate consequences for customers, counterparties, and market participants. A payment system may experience:</a:t>
            </a:r>
          </a:p>
          <a:p>
            <a:pPr algn="l">
              <a:spcBef>
                <a:spcPts val="600"/>
              </a:spcBef>
              <a:spcAft>
                <a:spcPts val="400"/>
              </a:spcAft>
            </a:pPr>
            <a:r>
              <a:rPr sz="1500" b="0" i="0">
                <a:solidFill>
                  <a:srgbClr val="334E68"/>
                </a:solidFill>
                <a:latin typeface="Montserrat"/>
              </a:rPr>
              <a:t>Customers unable to submit payment instructions</a:t>
            </a:r>
          </a:p>
          <a:p>
            <a:pPr algn="l">
              <a:spcBef>
                <a:spcPts val="600"/>
              </a:spcBef>
              <a:spcAft>
                <a:spcPts val="400"/>
              </a:spcAft>
            </a:pPr>
            <a:r>
              <a:rPr sz="1500" b="0" i="0">
                <a:solidFill>
                  <a:srgbClr val="334E68"/>
                </a:solidFill>
                <a:latin typeface="Montserrat"/>
              </a:rPr>
              <a:t>Payment messages cannot be validated or routed</a:t>
            </a:r>
          </a:p>
          <a:p>
            <a:pPr algn="l">
              <a:spcBef>
                <a:spcPts val="600"/>
              </a:spcBef>
              <a:spcAft>
                <a:spcPts val="400"/>
              </a:spcAft>
            </a:pPr>
            <a:r>
              <a:rPr sz="1500" b="0" i="0">
                <a:solidFill>
                  <a:srgbClr val="334E68"/>
                </a:solidFill>
                <a:latin typeface="Montserrat"/>
              </a:rPr>
              <a:t>Payment obligations cannot be completed</a:t>
            </a:r>
          </a:p>
          <a:p>
            <a:pPr algn="l">
              <a:spcBef>
                <a:spcPts val="600"/>
              </a:spcBef>
              <a:spcAft>
                <a:spcPts val="400"/>
              </a:spcAft>
            </a:pPr>
            <a:r>
              <a:rPr sz="1500" b="0" i="0">
                <a:solidFill>
                  <a:srgbClr val="334E68"/>
                </a:solidFill>
                <a:latin typeface="Montserrat"/>
              </a:rPr>
              <a:t>One institution loses access to the payment rail</a:t>
            </a:r>
          </a:p>
          <a:p>
            <a:pPr algn="l">
              <a:spcBef>
                <a:spcPts val="600"/>
              </a:spcBef>
              <a:spcAft>
                <a:spcPts val="400"/>
              </a:spcAft>
            </a:pPr>
            <a:r>
              <a:rPr sz="1500" b="0" i="0">
                <a:solidFill>
                  <a:srgbClr val="334E68"/>
                </a:solidFill>
                <a:latin typeface="Montserrat"/>
              </a:rPr>
              <a:t>Broader disruption affecting multiple participants simultaneously</a:t>
            </a:r>
          </a:p>
          <a:p>
            <a:pPr algn="l">
              <a:spcBef>
                <a:spcPts val="600"/>
              </a:spcBef>
              <a:spcAft>
                <a:spcPts val="100"/>
              </a:spcAft>
            </a:pPr>
            <a:r>
              <a:rPr sz="1000" b="1" i="0">
                <a:solidFill>
                  <a:srgbClr val="0365B2"/>
                </a:solidFill>
                <a:latin typeface="Montserrat"/>
              </a:rPr>
              <a:t>EXPECTATION GAP</a:t>
            </a:r>
          </a:p>
          <a:p>
            <a:pPr algn="l">
              <a:spcBef>
                <a:spcPts val="0"/>
              </a:spcBef>
              <a:spcAft>
                <a:spcPts val="400"/>
              </a:spcAft>
            </a:pPr>
            <a:r>
              <a:rPr sz="1300" b="0" i="1">
                <a:solidFill>
                  <a:srgbClr val="0C1115"/>
                </a:solidFill>
                <a:latin typeface="Montserrat"/>
              </a:rPr>
              <a:t>For customers, the distinction between outage types is irrelevant. The experience is simply that a payment expected to be immediate is unavailable. Even short disruptions generate reputational consequences, escalations, and regulatory scrutiny.</a:t>
            </a:r>
          </a:p>
          <a:p>
            <a:pPr algn="l">
              <a:spcBef>
                <a:spcPts val="600"/>
              </a:spcBef>
              <a:spcAft>
                <a:spcPts val="400"/>
              </a:spcAft>
            </a:pPr>
            <a:r>
              <a:rPr sz="1500" b="0" i="0">
                <a:solidFill>
                  <a:srgbClr val="334E68"/>
                </a:solidFill>
                <a:latin typeface="Montserrat"/>
              </a:rPr>
              <a:t>Outage Management Requirements</a:t>
            </a:r>
          </a:p>
          <a:p>
            <a:pPr algn="l">
              <a:spcBef>
                <a:spcPts val="600"/>
              </a:spcBef>
              <a:spcAft>
                <a:spcPts val="400"/>
              </a:spcAft>
            </a:pPr>
            <a:r>
              <a:rPr sz="1500" b="0" i="0">
                <a:solidFill>
                  <a:srgbClr val="334E68"/>
                </a:solidFill>
                <a:latin typeface="Montserrat"/>
              </a:rPr>
              <a:t>The question is less whether an outage will occur — and more how quickly it can be detected, contained, communicated, and resolved.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3.1.2 — Dependency &amp; Concentration Risk</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When Third Parties Fail</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200"/>
              </a:spcAft>
            </a:pPr>
            <a:r>
              <a:rPr sz="1400" b="1" i="0">
                <a:solidFill>
                  <a:srgbClr val="1D4771"/>
                </a:solidFill>
                <a:latin typeface="Montserrat"/>
              </a:rPr>
              <a:t>Dependency Risk</a:t>
            </a:r>
          </a:p>
          <a:p>
            <a:pPr algn="l">
              <a:spcBef>
                <a:spcPts val="600"/>
              </a:spcBef>
              <a:spcAft>
                <a:spcPts val="400"/>
              </a:spcAft>
            </a:pPr>
            <a:r>
              <a:rPr sz="1500" b="0" i="0">
                <a:solidFill>
                  <a:srgbClr val="334E68"/>
                </a:solidFill>
                <a:latin typeface="Montserrat"/>
              </a:rPr>
              <a:t>Arises when an institution's ability to provide payment services depends on the continued availability of systems operated by another party.</a:t>
            </a:r>
          </a:p>
          <a:p>
            <a:pPr algn="l">
              <a:spcBef>
                <a:spcPts val="600"/>
              </a:spcBef>
              <a:spcAft>
                <a:spcPts val="400"/>
              </a:spcAft>
            </a:pPr>
            <a:r>
              <a:rPr sz="1500" b="0" i="0">
                <a:solidFill>
                  <a:srgbClr val="334E68"/>
                </a:solidFill>
                <a:latin typeface="Montserrat"/>
              </a:rPr>
              <a:t>Payment rail access</a:t>
            </a:r>
          </a:p>
          <a:p>
            <a:pPr algn="l">
              <a:spcBef>
                <a:spcPts val="600"/>
              </a:spcBef>
              <a:spcAft>
                <a:spcPts val="400"/>
              </a:spcAft>
            </a:pPr>
            <a:r>
              <a:rPr sz="1500" b="0" i="0">
                <a:solidFill>
                  <a:srgbClr val="334E68"/>
                </a:solidFill>
                <a:latin typeface="Montserrat"/>
              </a:rPr>
              <a:t>Infrastructure</a:t>
            </a:r>
          </a:p>
          <a:p>
            <a:pPr algn="l">
              <a:spcBef>
                <a:spcPts val="600"/>
              </a:spcBef>
              <a:spcAft>
                <a:spcPts val="400"/>
              </a:spcAft>
            </a:pPr>
            <a:r>
              <a:rPr sz="1500" b="0" i="0">
                <a:solidFill>
                  <a:srgbClr val="334E68"/>
                </a:solidFill>
                <a:latin typeface="Montserrat"/>
              </a:rPr>
              <a:t>Compliance controls</a:t>
            </a:r>
          </a:p>
          <a:p>
            <a:pPr algn="l">
              <a:spcBef>
                <a:spcPts val="600"/>
              </a:spcBef>
              <a:spcAft>
                <a:spcPts val="400"/>
              </a:spcAft>
            </a:pPr>
            <a:r>
              <a:rPr sz="1500" b="0" i="0">
                <a:solidFill>
                  <a:srgbClr val="334E68"/>
                </a:solidFill>
                <a:latin typeface="Montserrat"/>
              </a:rPr>
              <a:t>Transaction analysis</a:t>
            </a:r>
          </a:p>
          <a:p>
            <a:pPr algn="l">
              <a:spcBef>
                <a:spcPts val="600"/>
              </a:spcBef>
              <a:spcAft>
                <a:spcPts val="400"/>
              </a:spcAft>
            </a:pPr>
            <a:r>
              <a:rPr sz="1500" b="0" i="0">
                <a:solidFill>
                  <a:srgbClr val="334E68"/>
                </a:solidFill>
                <a:latin typeface="Montserrat"/>
              </a:rPr>
              <a:t>Customer onboarding</a:t>
            </a:r>
          </a:p>
          <a:p>
            <a:pPr algn="l">
              <a:spcBef>
                <a:spcPts val="600"/>
              </a:spcBef>
              <a:spcAft>
                <a:spcPts val="200"/>
              </a:spcAft>
            </a:pPr>
            <a:r>
              <a:rPr sz="1400" b="1" i="0">
                <a:solidFill>
                  <a:srgbClr val="1D4771"/>
                </a:solidFill>
                <a:latin typeface="Montserrat"/>
              </a:rPr>
              <a:t>Concentration Risk</a:t>
            </a:r>
          </a:p>
          <a:p>
            <a:pPr algn="l">
              <a:spcBef>
                <a:spcPts val="600"/>
              </a:spcBef>
              <a:spcAft>
                <a:spcPts val="400"/>
              </a:spcAft>
            </a:pPr>
            <a:r>
              <a:rPr sz="1500" b="0" i="0">
                <a:solidFill>
                  <a:srgbClr val="334E68"/>
                </a:solidFill>
                <a:latin typeface="Montserrat"/>
              </a:rPr>
              <a:t>Arises when multiple institutions rely upon the same third parties — so that a single provider failure cascades across a large portion of the payment ecosystem.</a:t>
            </a:r>
          </a:p>
          <a:p>
            <a:pPr algn="l">
              <a:spcBef>
                <a:spcPts val="600"/>
              </a:spcBef>
              <a:spcAft>
                <a:spcPts val="100"/>
              </a:spcAft>
            </a:pPr>
            <a:r>
              <a:rPr sz="1000" b="1" i="0">
                <a:solidFill>
                  <a:srgbClr val="0365B2"/>
                </a:solidFill>
                <a:latin typeface="Montserrat"/>
              </a:rPr>
              <a:t>CASCADE EFFECT</a:t>
            </a:r>
          </a:p>
          <a:p>
            <a:pPr algn="l">
              <a:spcBef>
                <a:spcPts val="0"/>
              </a:spcBef>
              <a:spcAft>
                <a:spcPts val="400"/>
              </a:spcAft>
            </a:pPr>
            <a:r>
              <a:rPr sz="1300" b="0" i="1">
                <a:solidFill>
                  <a:srgbClr val="0C1115"/>
                </a:solidFill>
                <a:latin typeface="Montserrat"/>
              </a:rPr>
              <a:t>A single cloud provider or payment processor failure may simultaneously disrupt many participants — creating systemic rather than isolated exposure.</a:t>
            </a:r>
          </a:p>
          <a:p>
            <a:pPr algn="l">
              <a:spcBef>
                <a:spcPts val="600"/>
              </a:spcBef>
              <a:spcAft>
                <a:spcPts val="400"/>
              </a:spcAft>
            </a:pPr>
            <a:r>
              <a:rPr sz="1500" b="0" i="0">
                <a:solidFill>
                  <a:srgbClr val="334E68"/>
                </a:solidFill>
                <a:latin typeface="Montserrat"/>
              </a:rPr>
              <a:t>Institutions must understand not only their own technology environments, but also the operational dependencies that support their payment activities throughout the ecosystem.</a:t>
            </a:r>
          </a:p>
          <a:p>
            <a:pPr algn="l">
              <a:spcBef>
                <a:spcPts val="600"/>
              </a:spcBef>
              <a:spcAft>
                <a:spcPts val="100"/>
              </a:spcAft>
            </a:pPr>
            <a:r>
              <a:rPr sz="1000" b="1" i="0">
                <a:solidFill>
                  <a:srgbClr val="0365B2"/>
                </a:solidFill>
                <a:latin typeface="Montserrat"/>
              </a:rPr>
              <a:t>OPERATIONAL RISK MANAGEMENT REQUIRES</a:t>
            </a:r>
          </a:p>
          <a:p>
            <a:pPr algn="l">
              <a:spcBef>
                <a:spcPts val="0"/>
              </a:spcBef>
              <a:spcAft>
                <a:spcPts val="400"/>
              </a:spcAft>
            </a:pPr>
            <a:r>
              <a:rPr sz="1300" b="0" i="1">
                <a:solidFill>
                  <a:srgbClr val="0C1115"/>
                </a:solidFill>
                <a:latin typeface="Montserrat"/>
              </a:rPr>
              <a:t>Vendor due diligence · Contractual protections · Service-level monitoring · Incident reporting obligations · Business continuity planning · Contingency arrangements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3.2 — Regulatory Relevance</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Operational Risk as a Regulatory Expectation: The RPAA</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200"/>
              </a:spcAft>
            </a:pPr>
            <a:r>
              <a:rPr sz="1400" b="1" i="0">
                <a:solidFill>
                  <a:srgbClr val="1D4771"/>
                </a:solidFill>
                <a:latin typeface="Montserrat"/>
              </a:rPr>
              <a:t>Operational Concern Only?</a:t>
            </a:r>
          </a:p>
          <a:p>
            <a:pPr algn="l">
              <a:spcBef>
                <a:spcPts val="100"/>
              </a:spcBef>
              <a:spcAft>
                <a:spcPts val="500"/>
              </a:spcAft>
            </a:pPr>
            <a:r>
              <a:rPr sz="1300" b="0" i="0">
                <a:solidFill>
                  <a:srgbClr val="334E68"/>
                </a:solidFill>
                <a:latin typeface="Montserrat"/>
              </a:rPr>
              <a:t>Historically, operational risk within payment systems was primarily a commercial and reputational concern, addressed through internal policies and service agreements.</a:t>
            </a:r>
          </a:p>
          <a:p>
            <a:pPr algn="l">
              <a:spcBef>
                <a:spcPts val="600"/>
              </a:spcBef>
              <a:spcAft>
                <a:spcPts val="200"/>
              </a:spcAft>
            </a:pPr>
            <a:r>
              <a:rPr sz="1400" b="1" i="0">
                <a:solidFill>
                  <a:srgbClr val="1D4771"/>
                </a:solidFill>
                <a:latin typeface="Montserrat"/>
              </a:rPr>
              <a:t>Increasingly, Both</a:t>
            </a:r>
          </a:p>
          <a:p>
            <a:pPr algn="l">
              <a:spcBef>
                <a:spcPts val="100"/>
              </a:spcBef>
              <a:spcAft>
                <a:spcPts val="500"/>
              </a:spcAft>
            </a:pPr>
            <a:r>
              <a:rPr sz="1300" b="0" i="0">
                <a:solidFill>
                  <a:srgbClr val="334E68"/>
                </a:solidFill>
                <a:latin typeface="Montserrat"/>
              </a:rPr>
              <a:t>As payment activity increasingly involves technology companies, payment processors, and non-bank participants, regulators have focused on operational resilience as a matter of policy and law.</a:t>
            </a:r>
          </a:p>
          <a:p>
            <a:pPr algn="l">
              <a:spcBef>
                <a:spcPts val="600"/>
              </a:spcBef>
              <a:spcAft>
                <a:spcPts val="400"/>
              </a:spcAft>
            </a:pPr>
            <a:r>
              <a:rPr sz="1500" b="0" i="0">
                <a:solidFill>
                  <a:srgbClr val="334E68"/>
                </a:solidFill>
                <a:latin typeface="Montserrat"/>
              </a:rPr>
              <a:t>RPAA Emphasis Areas</a:t>
            </a:r>
          </a:p>
          <a:p>
            <a:pPr algn="l">
              <a:spcBef>
                <a:spcPts val="600"/>
              </a:spcBef>
              <a:spcAft>
                <a:spcPts val="100"/>
              </a:spcAft>
            </a:pPr>
            <a:r>
              <a:rPr sz="1000" b="1" i="0">
                <a:solidFill>
                  <a:srgbClr val="6DA3D9"/>
                </a:solidFill>
                <a:latin typeface="Montserrat"/>
              </a:rPr>
              <a:t>PILLAR 1</a:t>
            </a:r>
          </a:p>
          <a:p>
            <a:pPr algn="l">
              <a:spcBef>
                <a:spcPts val="0"/>
              </a:spcBef>
              <a:spcAft>
                <a:spcPts val="400"/>
              </a:spcAft>
            </a:pPr>
            <a:r>
              <a:rPr sz="1300" b="0" i="0">
                <a:solidFill>
                  <a:srgbClr val="0C1115"/>
                </a:solidFill>
                <a:latin typeface="Montserrat"/>
              </a:rPr>
              <a:t>Operational risk management — frameworks for identifying and mitigating operational disruption</a:t>
            </a:r>
          </a:p>
          <a:p>
            <a:pPr algn="l">
              <a:spcBef>
                <a:spcPts val="600"/>
              </a:spcBef>
              <a:spcAft>
                <a:spcPts val="100"/>
              </a:spcAft>
            </a:pPr>
            <a:r>
              <a:rPr sz="1000" b="1" i="0">
                <a:solidFill>
                  <a:srgbClr val="6DA3D9"/>
                </a:solidFill>
                <a:latin typeface="Montserrat"/>
              </a:rPr>
              <a:t>PILLAR 2</a:t>
            </a:r>
          </a:p>
          <a:p>
            <a:pPr algn="l">
              <a:spcBef>
                <a:spcPts val="0"/>
              </a:spcBef>
              <a:spcAft>
                <a:spcPts val="400"/>
              </a:spcAft>
            </a:pPr>
            <a:r>
              <a:rPr sz="1300" b="0" i="0">
                <a:solidFill>
                  <a:srgbClr val="0C1115"/>
                </a:solidFill>
                <a:latin typeface="Montserrat"/>
              </a:rPr>
              <a:t>Incident response — detection, containment, and reporting of operational incidents</a:t>
            </a:r>
          </a:p>
          <a:p>
            <a:pPr algn="l">
              <a:spcBef>
                <a:spcPts val="600"/>
              </a:spcBef>
              <a:spcAft>
                <a:spcPts val="100"/>
              </a:spcAft>
            </a:pPr>
            <a:r>
              <a:rPr sz="1000" b="1" i="0">
                <a:solidFill>
                  <a:srgbClr val="6DA3D9"/>
                </a:solidFill>
                <a:latin typeface="Montserrat"/>
              </a:rPr>
              <a:t>PILLAR 3</a:t>
            </a:r>
          </a:p>
          <a:p>
            <a:pPr algn="l">
              <a:spcBef>
                <a:spcPts val="0"/>
              </a:spcBef>
              <a:spcAft>
                <a:spcPts val="400"/>
              </a:spcAft>
            </a:pPr>
            <a:r>
              <a:rPr sz="1300" b="0" i="0">
                <a:solidFill>
                  <a:srgbClr val="0C1115"/>
                </a:solidFill>
                <a:latin typeface="Montserrat"/>
              </a:rPr>
              <a:t>Safeguarding end-user funds — ensuring customer funds are protected through disruption</a:t>
            </a:r>
          </a:p>
          <a:p>
            <a:pPr algn="l">
              <a:spcBef>
                <a:spcPts val="600"/>
              </a:spcBef>
              <a:spcAft>
                <a:spcPts val="100"/>
              </a:spcAft>
            </a:pPr>
            <a:r>
              <a:rPr sz="1000" b="1" i="0">
                <a:solidFill>
                  <a:srgbClr val="6DA3D9"/>
                </a:solidFill>
                <a:latin typeface="Montserrat"/>
              </a:rPr>
              <a:t>PILLAR 4</a:t>
            </a:r>
          </a:p>
          <a:p>
            <a:pPr algn="l">
              <a:spcBef>
                <a:spcPts val="0"/>
              </a:spcBef>
              <a:spcAft>
                <a:spcPts val="400"/>
              </a:spcAft>
            </a:pPr>
            <a:r>
              <a:rPr sz="1300" b="0" i="0">
                <a:solidFill>
                  <a:srgbClr val="0C1115"/>
                </a:solidFill>
                <a:latin typeface="Montserrat"/>
              </a:rPr>
              <a:t>Reporting obligations — notification requirements to regulators and affected parties</a:t>
            </a:r>
          </a:p>
          <a:p>
            <a:pPr algn="l">
              <a:spcBef>
                <a:spcPts val="600"/>
              </a:spcBef>
              <a:spcAft>
                <a:spcPts val="100"/>
              </a:spcAft>
            </a:pPr>
            <a:r>
              <a:rPr sz="1000" b="1" i="0">
                <a:solidFill>
                  <a:srgbClr val="0365B2"/>
                </a:solidFill>
                <a:latin typeface="Montserrat"/>
              </a:rPr>
              <a:t>KEY TAKEAWAY</a:t>
            </a:r>
          </a:p>
          <a:p>
            <a:pPr algn="l">
              <a:spcBef>
                <a:spcPts val="0"/>
              </a:spcBef>
              <a:spcAft>
                <a:spcPts val="400"/>
              </a:spcAft>
            </a:pPr>
            <a:r>
              <a:rPr sz="1300" b="0" i="1">
                <a:solidFill>
                  <a:srgbClr val="0C1115"/>
                </a:solidFill>
                <a:latin typeface="Montserrat"/>
              </a:rPr>
              <a:t>For organizations participating in modern payment ecosystems, operational resilience is no longer merely a commercial consideration. It has become a regulatory expectation.</a:t>
            </a:r>
          </a:p>
          <a:p>
            <a:pPr algn="l">
              <a:spcBef>
                <a:spcPts val="0"/>
              </a:spcBef>
              <a:spcAft>
                <a:spcPts val="400"/>
              </a:spcAft>
            </a:pPr>
            <a:r>
              <a:rPr sz="1300" b="0" i="1">
                <a:solidFill>
                  <a:srgbClr val="0C1115"/>
                </a:solidFill>
                <a:latin typeface="Montserrat"/>
              </a:rPr>
              <a:t>Institutions evaluating RTR participation must consider both payment system rules and the regulatory framework governing operational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3.3 — Operational Controls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Controls as Substitutes for Mitigation Windows</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What changes in real-time environments is not necessarily the nature of controls, but the speed, consistency, and reliability with which they must operate. Operational controls increasingly serve as substitutes for the mitigation windows that batch systems previously provided.</a:t>
            </a:r>
          </a:p>
          <a:p>
            <a:pPr algn="l">
              <a:spcBef>
                <a:spcPts val="600"/>
              </a:spcBef>
              <a:spcAft>
                <a:spcPts val="200"/>
              </a:spcAft>
            </a:pPr>
            <a:r>
              <a:rPr sz="1400" b="1" i="0">
                <a:solidFill>
                  <a:srgbClr val="1D4771"/>
                </a:solidFill>
                <a:latin typeface="Montserrat"/>
              </a:rPr>
              <a:t>Velocity Limits</a:t>
            </a:r>
          </a:p>
          <a:p>
            <a:pPr algn="l">
              <a:spcBef>
                <a:spcPts val="100"/>
              </a:spcBef>
              <a:spcAft>
                <a:spcPts val="500"/>
              </a:spcAft>
            </a:pPr>
            <a:r>
              <a:rPr sz="1300" b="0" i="0">
                <a:solidFill>
                  <a:srgbClr val="334E68"/>
                </a:solidFill>
                <a:latin typeface="Montserrat"/>
              </a:rPr>
              <a:t>Restrict the number or value of transactions within a defined period — per customer, account, device, or channel. Act as an early-warning mechanism for abnormal behaviour.</a:t>
            </a:r>
          </a:p>
          <a:p>
            <a:pPr algn="l">
              <a:spcBef>
                <a:spcPts val="600"/>
              </a:spcBef>
              <a:spcAft>
                <a:spcPts val="200"/>
              </a:spcAft>
            </a:pPr>
            <a:r>
              <a:rPr sz="1400" b="1" i="0">
                <a:solidFill>
                  <a:srgbClr val="1D4771"/>
                </a:solidFill>
                <a:latin typeface="Montserrat"/>
              </a:rPr>
              <a:t>Transaction Tiering</a:t>
            </a:r>
          </a:p>
          <a:p>
            <a:pPr algn="l">
              <a:spcBef>
                <a:spcPts val="100"/>
              </a:spcBef>
              <a:spcAft>
                <a:spcPts val="500"/>
              </a:spcAft>
            </a:pPr>
            <a:r>
              <a:rPr sz="1300" b="0" i="0">
                <a:solidFill>
                  <a:srgbClr val="334E68"/>
                </a:solidFill>
                <a:latin typeface="Montserrat"/>
              </a:rPr>
              <a:t>Apply different control frameworks based on transaction value, customer profile, and risk rating — allocating scrutiny proportionately rather than uniformly.</a:t>
            </a:r>
          </a:p>
          <a:p>
            <a:pPr algn="l">
              <a:spcBef>
                <a:spcPts val="600"/>
              </a:spcBef>
              <a:spcAft>
                <a:spcPts val="200"/>
              </a:spcAft>
            </a:pPr>
            <a:r>
              <a:rPr sz="1400" b="1" i="0">
                <a:solidFill>
                  <a:srgbClr val="1D4771"/>
                </a:solidFill>
                <a:latin typeface="Montserrat"/>
              </a:rPr>
              <a:t>Circuit Breakers</a:t>
            </a:r>
          </a:p>
          <a:p>
            <a:pPr algn="l">
              <a:spcBef>
                <a:spcPts val="100"/>
              </a:spcBef>
              <a:spcAft>
                <a:spcPts val="500"/>
              </a:spcAft>
            </a:pPr>
            <a:r>
              <a:rPr sz="1300" b="0" i="0">
                <a:solidFill>
                  <a:srgbClr val="334E68"/>
                </a:solidFill>
                <a:latin typeface="Montserrat"/>
              </a:rPr>
              <a:t>Interrupt or slow payment activity when predefined thresholds are exceeded. Recreate the intervention window that batch systems historically provided.</a:t>
            </a:r>
          </a:p>
          <a:p>
            <a:pPr algn="l">
              <a:spcBef>
                <a:spcPts val="600"/>
              </a:spcBef>
              <a:spcAft>
                <a:spcPts val="200"/>
              </a:spcAft>
            </a:pPr>
            <a:r>
              <a:rPr sz="1400" b="1" i="0">
                <a:solidFill>
                  <a:srgbClr val="1D4771"/>
                </a:solidFill>
                <a:latin typeface="Montserrat"/>
              </a:rPr>
              <a:t>Fallback Rails</a:t>
            </a:r>
          </a:p>
          <a:p>
            <a:pPr algn="l">
              <a:spcBef>
                <a:spcPts val="100"/>
              </a:spcBef>
              <a:spcAft>
                <a:spcPts val="500"/>
              </a:spcAft>
            </a:pPr>
            <a:r>
              <a:rPr sz="1300" b="0" i="0">
                <a:solidFill>
                  <a:srgbClr val="334E68"/>
                </a:solidFill>
                <a:latin typeface="Montserrat"/>
              </a:rPr>
              <a:t>Alternative payment channels or contingency processes that preserve critical payment functionality during periods of operational disruption.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3.3 — Operational Control</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Velocity Limits</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Velocity controls restrict the number or value of transactions within a specified period. They may be applied per customer, per account, per device, per counterparty, or per payment channel.</a:t>
            </a:r>
          </a:p>
          <a:p>
            <a:pPr algn="l">
              <a:spcBef>
                <a:spcPts val="600"/>
              </a:spcBef>
              <a:spcAft>
                <a:spcPts val="400"/>
              </a:spcAft>
            </a:pPr>
            <a:r>
              <a:rPr sz="1500" b="0" i="0">
                <a:solidFill>
                  <a:srgbClr val="334E68"/>
                </a:solidFill>
                <a:latin typeface="Montserrat"/>
              </a:rPr>
              <a:t>What Unusual Velocity May Signal</a:t>
            </a:r>
          </a:p>
          <a:p>
            <a:pPr algn="l">
              <a:spcBef>
                <a:spcPts val="200"/>
              </a:spcBef>
              <a:spcAft>
                <a:spcPts val="200"/>
              </a:spcAft>
            </a:pPr>
            <a:r>
              <a:rPr sz="1400" b="0" i="0">
                <a:solidFill>
                  <a:srgbClr val="0C1115"/>
                </a:solidFill>
                <a:latin typeface="Montserrat"/>
              </a:rPr>
              <a:t>•  Account compromise or takeover</a:t>
            </a:r>
          </a:p>
          <a:p>
            <a:pPr algn="l">
              <a:spcBef>
                <a:spcPts val="200"/>
              </a:spcBef>
              <a:spcAft>
                <a:spcPts val="200"/>
              </a:spcAft>
            </a:pPr>
            <a:r>
              <a:rPr sz="1400" b="0" i="0">
                <a:solidFill>
                  <a:srgbClr val="0C1115"/>
                </a:solidFill>
                <a:latin typeface="Montserrat"/>
              </a:rPr>
              <a:t>•  Automated or scripted attacks</a:t>
            </a:r>
          </a:p>
          <a:p>
            <a:pPr algn="l">
              <a:spcBef>
                <a:spcPts val="200"/>
              </a:spcBef>
              <a:spcAft>
                <a:spcPts val="200"/>
              </a:spcAft>
            </a:pPr>
            <a:r>
              <a:rPr sz="1400" b="0" i="0">
                <a:solidFill>
                  <a:srgbClr val="0C1115"/>
                </a:solidFill>
                <a:latin typeface="Montserrat"/>
              </a:rPr>
              <a:t>•  System malfunction or operational error</a:t>
            </a:r>
          </a:p>
          <a:p>
            <a:pPr algn="l">
              <a:spcBef>
                <a:spcPts val="200"/>
              </a:spcBef>
              <a:spcAft>
                <a:spcPts val="200"/>
              </a:spcAft>
            </a:pPr>
            <a:r>
              <a:rPr sz="1400" b="0" i="0">
                <a:solidFill>
                  <a:srgbClr val="0C1115"/>
                </a:solidFill>
                <a:latin typeface="Montserrat"/>
              </a:rPr>
              <a:t>•  Attempts to circumvent established controls</a:t>
            </a:r>
          </a:p>
          <a:p>
            <a:pPr algn="l">
              <a:spcBef>
                <a:spcPts val="600"/>
              </a:spcBef>
              <a:spcAft>
                <a:spcPts val="400"/>
              </a:spcAft>
            </a:pPr>
            <a:r>
              <a:rPr sz="1500" b="0" i="0">
                <a:solidFill>
                  <a:srgbClr val="334E68"/>
                </a:solidFill>
                <a:latin typeface="Montserrat"/>
              </a:rPr>
              <a:t>Why Effective in Real-Time Environments</a:t>
            </a:r>
          </a:p>
          <a:p>
            <a:pPr algn="l">
              <a:spcBef>
                <a:spcPts val="200"/>
              </a:spcBef>
              <a:spcAft>
                <a:spcPts val="200"/>
              </a:spcAft>
            </a:pPr>
            <a:r>
              <a:rPr sz="1400" b="0" i="0">
                <a:solidFill>
                  <a:srgbClr val="0C1115"/>
                </a:solidFill>
                <a:latin typeface="Montserrat"/>
              </a:rPr>
              <a:t>•  Operate automatically — no manual intervention required</a:t>
            </a:r>
          </a:p>
          <a:p>
            <a:pPr algn="l">
              <a:spcBef>
                <a:spcPts val="200"/>
              </a:spcBef>
              <a:spcAft>
                <a:spcPts val="200"/>
              </a:spcAft>
            </a:pPr>
            <a:r>
              <a:rPr sz="1400" b="0" i="0">
                <a:solidFill>
                  <a:srgbClr val="0C1115"/>
                </a:solidFill>
                <a:latin typeface="Montserrat"/>
              </a:rPr>
              <a:t>•  Trigger before losses or disruptions manifest</a:t>
            </a:r>
          </a:p>
          <a:p>
            <a:pPr algn="l">
              <a:spcBef>
                <a:spcPts val="200"/>
              </a:spcBef>
              <a:spcAft>
                <a:spcPts val="200"/>
              </a:spcAft>
            </a:pPr>
            <a:r>
              <a:rPr sz="1400" b="0" i="0">
                <a:solidFill>
                  <a:srgbClr val="0C1115"/>
                </a:solidFill>
                <a:latin typeface="Montserrat"/>
              </a:rPr>
              <a:t>•  Apply across fraud prevention, compliance, and operational objectives</a:t>
            </a:r>
          </a:p>
          <a:p>
            <a:pPr algn="l">
              <a:spcBef>
                <a:spcPts val="200"/>
              </a:spcBef>
              <a:spcAft>
                <a:spcPts val="200"/>
              </a:spcAft>
            </a:pPr>
            <a:r>
              <a:rPr sz="1400" b="0" i="0">
                <a:solidFill>
                  <a:srgbClr val="0C1115"/>
                </a:solidFill>
                <a:latin typeface="Montserrat"/>
              </a:rPr>
              <a:t>•  Preserve speed and efficiency while creating scrutiny thresholds</a:t>
            </a:r>
          </a:p>
          <a:p>
            <a:pPr algn="l">
              <a:spcBef>
                <a:spcPts val="600"/>
              </a:spcBef>
              <a:spcAft>
                <a:spcPts val="100"/>
              </a:spcAft>
            </a:pPr>
            <a:r>
              <a:rPr sz="1000" b="1" i="0">
                <a:solidFill>
                  <a:srgbClr val="0365B2"/>
                </a:solidFill>
                <a:latin typeface="Montserrat"/>
              </a:rPr>
              <a:t>KEY INSIGHT</a:t>
            </a:r>
          </a:p>
          <a:p>
            <a:pPr algn="l">
              <a:spcBef>
                <a:spcPts val="0"/>
              </a:spcBef>
              <a:spcAft>
                <a:spcPts val="400"/>
              </a:spcAft>
            </a:pPr>
            <a:r>
              <a:rPr sz="1300" b="0" i="1">
                <a:solidFill>
                  <a:srgbClr val="0C1115"/>
                </a:solidFill>
                <a:latin typeface="Montserrat"/>
              </a:rPr>
              <a:t>Velocity controls are frequently associated with fraud prevention — but they also serve broader operational objectives. By establishing predefined thresholds, institutions create mechanisms to identify abnormal behaviour before losses or operational disruptions manifest. In many respects, velocity controls function as an early-warning mechanism within real-time payment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3.3 — Operational Control</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Transaction Tiering</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Not all transactions present the same level of risk. Transaction tiering applies different control frameworks based on factors including transaction value, customer profile, historical activity, geographic exposure, product type, and overall risk rating.</a:t>
            </a:r>
          </a:p>
          <a:p>
            <a:pPr algn="l">
              <a:spcBef>
                <a:spcPts val="600"/>
              </a:spcBef>
              <a:spcAft>
                <a:spcPts val="400"/>
              </a:spcAft>
            </a:pPr>
            <a:r>
              <a:rPr sz="1500" b="0" i="0">
                <a:solidFill>
                  <a:srgbClr val="334E68"/>
                </a:solidFill>
                <a:latin typeface="Montserrat"/>
              </a:rPr>
              <a:t>Lower Risk</a:t>
            </a:r>
          </a:p>
          <a:p>
            <a:pPr algn="l">
              <a:spcBef>
                <a:spcPts val="600"/>
              </a:spcBef>
              <a:spcAft>
                <a:spcPts val="400"/>
              </a:spcAft>
            </a:pPr>
            <a:r>
              <a:rPr sz="1500" b="0" i="0">
                <a:solidFill>
                  <a:srgbClr val="334E68"/>
                </a:solidFill>
                <a:latin typeface="Montserrat"/>
              </a:rPr>
              <a:t>Processed automatically — no additional friction applied</a:t>
            </a:r>
          </a:p>
          <a:p>
            <a:pPr algn="l">
              <a:spcBef>
                <a:spcPts val="600"/>
              </a:spcBef>
              <a:spcAft>
                <a:spcPts val="400"/>
              </a:spcAft>
            </a:pPr>
            <a:r>
              <a:rPr sz="1500" b="0" i="0">
                <a:solidFill>
                  <a:srgbClr val="334E68"/>
                </a:solidFill>
                <a:latin typeface="Montserrat"/>
              </a:rPr>
              <a:t>Medium Risk</a:t>
            </a:r>
          </a:p>
          <a:p>
            <a:pPr algn="l">
              <a:spcBef>
                <a:spcPts val="600"/>
              </a:spcBef>
              <a:spcAft>
                <a:spcPts val="400"/>
              </a:spcAft>
            </a:pPr>
            <a:r>
              <a:rPr sz="1500" b="0" i="0">
                <a:solidFill>
                  <a:srgbClr val="334E68"/>
                </a:solidFill>
                <a:latin typeface="Montserrat"/>
              </a:rPr>
              <a:t>Enhanced monitoring triggered — automated flags raised for review</a:t>
            </a:r>
          </a:p>
          <a:p>
            <a:pPr algn="l">
              <a:spcBef>
                <a:spcPts val="600"/>
              </a:spcBef>
              <a:spcAft>
                <a:spcPts val="400"/>
              </a:spcAft>
            </a:pPr>
            <a:r>
              <a:rPr sz="1500" b="0" i="0">
                <a:solidFill>
                  <a:srgbClr val="334E68"/>
                </a:solidFill>
                <a:latin typeface="Montserrat"/>
              </a:rPr>
              <a:t>Higher Risk</a:t>
            </a:r>
          </a:p>
          <a:p>
            <a:pPr algn="l">
              <a:spcBef>
                <a:spcPts val="600"/>
              </a:spcBef>
              <a:spcAft>
                <a:spcPts val="400"/>
              </a:spcAft>
            </a:pPr>
            <a:r>
              <a:rPr sz="1500" b="0" i="0">
                <a:solidFill>
                  <a:srgbClr val="334E68"/>
                </a:solidFill>
                <a:latin typeface="Montserrat"/>
              </a:rPr>
              <a:t>Additional authentication, escalation, or manual review required</a:t>
            </a:r>
          </a:p>
          <a:p>
            <a:pPr algn="l">
              <a:spcBef>
                <a:spcPts val="600"/>
              </a:spcBef>
              <a:spcAft>
                <a:spcPts val="100"/>
              </a:spcAft>
            </a:pPr>
            <a:r>
              <a:rPr sz="1000" b="1" i="0">
                <a:solidFill>
                  <a:srgbClr val="0365B2"/>
                </a:solidFill>
                <a:latin typeface="Montserrat"/>
              </a:rPr>
              <a:t>THE BALANCE</a:t>
            </a:r>
          </a:p>
          <a:p>
            <a:pPr algn="l">
              <a:spcBef>
                <a:spcPts val="0"/>
              </a:spcBef>
              <a:spcAft>
                <a:spcPts val="400"/>
              </a:spcAft>
            </a:pPr>
            <a:r>
              <a:rPr sz="1300" b="0" i="1">
                <a:solidFill>
                  <a:srgbClr val="0C1115"/>
                </a:solidFill>
                <a:latin typeface="Montserrat"/>
              </a:rPr>
              <a:t>Effective tiering frameworks seek to balance speed, customer convenience, and risk management by applying additional monitoring only where circumstances warrant. Excessive controls undermine the customer experience; insufficient controls compromise fraud and compliance risk management. Tiering allocates resources proportionately rather than uniformly.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3.3 — Operational Control</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Circuit Breakers</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Circuit breakers are designed to interrupt, slow, or restrict payment activity when predefined thresholds are exceeded — creating an opportunity for intervention before a problem escalates.</a:t>
            </a:r>
          </a:p>
          <a:p>
            <a:pPr algn="l">
              <a:spcBef>
                <a:spcPts val="600"/>
              </a:spcBef>
              <a:spcAft>
                <a:spcPts val="400"/>
              </a:spcAft>
            </a:pPr>
            <a:r>
              <a:rPr sz="1500" b="0" i="0">
                <a:solidFill>
                  <a:srgbClr val="334E68"/>
                </a:solidFill>
                <a:latin typeface="Montserrat"/>
              </a:rPr>
              <a:t>Triggering Conditions</a:t>
            </a:r>
          </a:p>
          <a:p>
            <a:pPr algn="l">
              <a:spcBef>
                <a:spcPts val="200"/>
              </a:spcBef>
              <a:spcAft>
                <a:spcPts val="200"/>
              </a:spcAft>
            </a:pPr>
            <a:r>
              <a:rPr sz="1400" b="0" i="0">
                <a:solidFill>
                  <a:srgbClr val="0C1115"/>
                </a:solidFill>
                <a:latin typeface="Montserrat"/>
              </a:rPr>
              <a:t>•  Unusual or elevated transaction volumes</a:t>
            </a:r>
          </a:p>
          <a:p>
            <a:pPr algn="l">
              <a:spcBef>
                <a:spcPts val="200"/>
              </a:spcBef>
              <a:spcAft>
                <a:spcPts val="200"/>
              </a:spcAft>
            </a:pPr>
            <a:r>
              <a:rPr sz="1400" b="0" i="0">
                <a:solidFill>
                  <a:srgbClr val="0C1115"/>
                </a:solidFill>
                <a:latin typeface="Montserrat"/>
              </a:rPr>
              <a:t>•  Elevated fraud indicators or alert rates</a:t>
            </a:r>
          </a:p>
          <a:p>
            <a:pPr algn="l">
              <a:spcBef>
                <a:spcPts val="200"/>
              </a:spcBef>
              <a:spcAft>
                <a:spcPts val="200"/>
              </a:spcAft>
            </a:pPr>
            <a:r>
              <a:rPr sz="1400" b="0" i="0">
                <a:solidFill>
                  <a:srgbClr val="0C1115"/>
                </a:solidFill>
                <a:latin typeface="Montserrat"/>
              </a:rPr>
              <a:t>•  Liquidity shortages or funding gaps</a:t>
            </a:r>
          </a:p>
          <a:p>
            <a:pPr algn="l">
              <a:spcBef>
                <a:spcPts val="200"/>
              </a:spcBef>
              <a:spcAft>
                <a:spcPts val="200"/>
              </a:spcAft>
            </a:pPr>
            <a:r>
              <a:rPr sz="1400" b="0" i="0">
                <a:solidFill>
                  <a:srgbClr val="0C1115"/>
                </a:solidFill>
                <a:latin typeface="Montserrat"/>
              </a:rPr>
              <a:t>•  System performance degradation</a:t>
            </a:r>
          </a:p>
          <a:p>
            <a:pPr algn="l">
              <a:spcBef>
                <a:spcPts val="200"/>
              </a:spcBef>
              <a:spcAft>
                <a:spcPts val="200"/>
              </a:spcAft>
            </a:pPr>
            <a:r>
              <a:rPr sz="1400" b="0" i="0">
                <a:solidFill>
                  <a:srgbClr val="0C1115"/>
                </a:solidFill>
                <a:latin typeface="Montserrat"/>
              </a:rPr>
              <a:t>•  Abnormal payment patterns suggesting broader systems issues</a:t>
            </a:r>
          </a:p>
          <a:p>
            <a:pPr algn="l">
              <a:spcBef>
                <a:spcPts val="600"/>
              </a:spcBef>
              <a:spcAft>
                <a:spcPts val="400"/>
              </a:spcAft>
            </a:pPr>
            <a:r>
              <a:rPr sz="1500" b="0" i="0">
                <a:solidFill>
                  <a:srgbClr val="334E68"/>
                </a:solidFill>
                <a:latin typeface="Montserrat"/>
              </a:rPr>
              <a:t>Possible Responses</a:t>
            </a:r>
          </a:p>
          <a:p>
            <a:pPr algn="l">
              <a:spcBef>
                <a:spcPts val="200"/>
              </a:spcBef>
              <a:spcAft>
                <a:spcPts val="200"/>
              </a:spcAft>
            </a:pPr>
            <a:r>
              <a:rPr sz="1400" b="0" i="0">
                <a:solidFill>
                  <a:srgbClr val="0C1115"/>
                </a:solidFill>
                <a:latin typeface="Montserrat"/>
              </a:rPr>
              <a:t>•  Additional authentication requirements</a:t>
            </a:r>
          </a:p>
          <a:p>
            <a:pPr algn="l">
              <a:spcBef>
                <a:spcPts val="200"/>
              </a:spcBef>
              <a:spcAft>
                <a:spcPts val="200"/>
              </a:spcAft>
            </a:pPr>
            <a:r>
              <a:rPr sz="1400" b="0" i="0">
                <a:solidFill>
                  <a:srgbClr val="0C1115"/>
                </a:solidFill>
                <a:latin typeface="Montserrat"/>
              </a:rPr>
              <a:t>•  Transaction value or volume limits</a:t>
            </a:r>
          </a:p>
          <a:p>
            <a:pPr algn="l">
              <a:spcBef>
                <a:spcPts val="200"/>
              </a:spcBef>
              <a:spcAft>
                <a:spcPts val="200"/>
              </a:spcAft>
            </a:pPr>
            <a:r>
              <a:rPr sz="1400" b="0" i="0">
                <a:solidFill>
                  <a:srgbClr val="0C1115"/>
                </a:solidFill>
                <a:latin typeface="Montserrat"/>
              </a:rPr>
              <a:t>•  Temporary payment restrictions on specific channels</a:t>
            </a:r>
          </a:p>
          <a:p>
            <a:pPr algn="l">
              <a:spcBef>
                <a:spcPts val="200"/>
              </a:spcBef>
              <a:spcAft>
                <a:spcPts val="200"/>
              </a:spcAft>
            </a:pPr>
            <a:r>
              <a:rPr sz="1400" b="0" i="0">
                <a:solidFill>
                  <a:srgbClr val="0C1115"/>
                </a:solidFill>
                <a:latin typeface="Montserrat"/>
              </a:rPr>
              <a:t>•  Manual review procedures for flagged transactions</a:t>
            </a:r>
          </a:p>
          <a:p>
            <a:pPr algn="l">
              <a:spcBef>
                <a:spcPts val="200"/>
              </a:spcBef>
              <a:spcAft>
                <a:spcPts val="200"/>
              </a:spcAft>
            </a:pPr>
            <a:r>
              <a:rPr sz="1400" b="0" i="0">
                <a:solidFill>
                  <a:srgbClr val="0C1115"/>
                </a:solidFill>
                <a:latin typeface="Montserrat"/>
              </a:rPr>
              <a:t>•  Suspension of specific payment functionality</a:t>
            </a:r>
          </a:p>
          <a:p>
            <a:pPr algn="l">
              <a:spcBef>
                <a:spcPts val="600"/>
              </a:spcBef>
              <a:spcAft>
                <a:spcPts val="100"/>
              </a:spcAft>
            </a:pPr>
            <a:r>
              <a:rPr sz="1000" b="1" i="0">
                <a:solidFill>
                  <a:srgbClr val="0365B2"/>
                </a:solidFill>
                <a:latin typeface="Montserrat"/>
              </a:rPr>
              <a:t>KEY INSIGHT</a:t>
            </a:r>
          </a:p>
          <a:p>
            <a:pPr algn="l">
              <a:spcBef>
                <a:spcPts val="0"/>
              </a:spcBef>
              <a:spcAft>
                <a:spcPts val="400"/>
              </a:spcAft>
            </a:pPr>
            <a:r>
              <a:rPr sz="1300" b="0" i="1">
                <a:solidFill>
                  <a:srgbClr val="0C1115"/>
                </a:solidFill>
                <a:latin typeface="Montserrat"/>
              </a:rPr>
              <a:t>In many respects, circuit breakers recreate the mitigation window that batch systems historically provided — giving institutions a structured mechanism to slow down payment activity when the surrounding control environment indicates elevated risk. The objective is not to stop normal activity, but to create space for intervention before a problem escalates.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3.3 — Operational Control</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Fallback Rails</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No payment system is infallible. A fallback rail is an alternative payment channel or contingency process that may be used when a primary payment system becomes unavailable or experiences significant operational degradation.</a:t>
            </a:r>
          </a:p>
          <a:p>
            <a:pPr algn="l">
              <a:spcBef>
                <a:spcPts val="600"/>
              </a:spcBef>
              <a:spcAft>
                <a:spcPts val="400"/>
              </a:spcAft>
            </a:pPr>
            <a:r>
              <a:rPr sz="1500" b="0" i="0">
                <a:solidFill>
                  <a:srgbClr val="334E68"/>
                </a:solidFill>
                <a:latin typeface="Montserrat"/>
              </a:rPr>
              <a:t>Fallback Options May Include</a:t>
            </a:r>
          </a:p>
          <a:p>
            <a:pPr algn="l">
              <a:spcBef>
                <a:spcPts val="200"/>
              </a:spcBef>
              <a:spcAft>
                <a:spcPts val="200"/>
              </a:spcAft>
            </a:pPr>
            <a:r>
              <a:rPr sz="1400" b="0" i="0">
                <a:solidFill>
                  <a:srgbClr val="0C1115"/>
                </a:solidFill>
                <a:latin typeface="Montserrat"/>
              </a:rPr>
              <a:t>•  Traditional EFT / batch-payment processing</a:t>
            </a:r>
          </a:p>
          <a:p>
            <a:pPr algn="l">
              <a:spcBef>
                <a:spcPts val="200"/>
              </a:spcBef>
              <a:spcAft>
                <a:spcPts val="200"/>
              </a:spcAft>
            </a:pPr>
            <a:r>
              <a:rPr sz="1400" b="0" i="0">
                <a:solidFill>
                  <a:srgbClr val="0C1115"/>
                </a:solidFill>
                <a:latin typeface="Montserrat"/>
              </a:rPr>
              <a:t>•  Wire transfer arrangements</a:t>
            </a:r>
          </a:p>
          <a:p>
            <a:pPr algn="l">
              <a:spcBef>
                <a:spcPts val="200"/>
              </a:spcBef>
              <a:spcAft>
                <a:spcPts val="200"/>
              </a:spcAft>
            </a:pPr>
            <a:r>
              <a:rPr sz="1400" b="0" i="0">
                <a:solidFill>
                  <a:srgbClr val="0C1115"/>
                </a:solidFill>
                <a:latin typeface="Montserrat"/>
              </a:rPr>
              <a:t>•  Alternative payment processors</a:t>
            </a:r>
          </a:p>
          <a:p>
            <a:pPr algn="l">
              <a:spcBef>
                <a:spcPts val="200"/>
              </a:spcBef>
              <a:spcAft>
                <a:spcPts val="200"/>
              </a:spcAft>
            </a:pPr>
            <a:r>
              <a:rPr sz="1400" b="0" i="0">
                <a:solidFill>
                  <a:srgbClr val="0C1115"/>
                </a:solidFill>
                <a:latin typeface="Montserrat"/>
              </a:rPr>
              <a:t>•  Secondary connectivity solutions</a:t>
            </a:r>
          </a:p>
          <a:p>
            <a:pPr algn="l">
              <a:spcBef>
                <a:spcPts val="200"/>
              </a:spcBef>
              <a:spcAft>
                <a:spcPts val="200"/>
              </a:spcAft>
            </a:pPr>
            <a:r>
              <a:rPr sz="1400" b="0" i="0">
                <a:solidFill>
                  <a:srgbClr val="0C1115"/>
                </a:solidFill>
                <a:latin typeface="Montserrat"/>
              </a:rPr>
              <a:t>•  Manual contingency procedures</a:t>
            </a:r>
          </a:p>
          <a:p>
            <a:pPr algn="l">
              <a:spcBef>
                <a:spcPts val="600"/>
              </a:spcBef>
              <a:spcAft>
                <a:spcPts val="400"/>
              </a:spcAft>
            </a:pPr>
            <a:r>
              <a:rPr sz="1500" b="0" i="0">
                <a:solidFill>
                  <a:srgbClr val="334E68"/>
                </a:solidFill>
                <a:latin typeface="Montserrat"/>
              </a:rPr>
              <a:t>Effective Fallback Planning Requires</a:t>
            </a:r>
          </a:p>
          <a:p>
            <a:pPr algn="l">
              <a:spcBef>
                <a:spcPts val="0"/>
              </a:spcBef>
              <a:spcAft>
                <a:spcPts val="400"/>
              </a:spcAft>
            </a:pPr>
            <a:r>
              <a:rPr sz="1300" b="0" i="0">
                <a:solidFill>
                  <a:srgbClr val="0C1115"/>
                </a:solidFill>
                <a:latin typeface="Montserrat"/>
              </a:rPr>
              <a:t>Identify critical payment functions in advance</a:t>
            </a:r>
          </a:p>
          <a:p>
            <a:pPr algn="l">
              <a:spcBef>
                <a:spcPts val="0"/>
              </a:spcBef>
              <a:spcAft>
                <a:spcPts val="400"/>
              </a:spcAft>
            </a:pPr>
            <a:r>
              <a:rPr sz="1300" b="0" i="0">
                <a:solidFill>
                  <a:srgbClr val="0C1115"/>
                </a:solidFill>
                <a:latin typeface="Montserrat"/>
              </a:rPr>
              <a:t>Understand which services must be maintained during disruption</a:t>
            </a:r>
          </a:p>
          <a:p>
            <a:pPr algn="l">
              <a:spcBef>
                <a:spcPts val="0"/>
              </a:spcBef>
              <a:spcAft>
                <a:spcPts val="400"/>
              </a:spcAft>
            </a:pPr>
            <a:r>
              <a:rPr sz="1300" b="0" i="0">
                <a:solidFill>
                  <a:srgbClr val="0C1115"/>
                </a:solidFill>
                <a:latin typeface="Montserrat"/>
              </a:rPr>
              <a:t>Establish clear escalation procedures</a:t>
            </a:r>
          </a:p>
          <a:p>
            <a:pPr algn="l">
              <a:spcBef>
                <a:spcPts val="0"/>
              </a:spcBef>
              <a:spcAft>
                <a:spcPts val="400"/>
              </a:spcAft>
            </a:pPr>
            <a:r>
              <a:rPr sz="1300" b="0" i="0">
                <a:solidFill>
                  <a:srgbClr val="0C1115"/>
                </a:solidFill>
                <a:latin typeface="Montserrat"/>
              </a:rPr>
              <a:t>Periodically test contingency arrangements</a:t>
            </a:r>
          </a:p>
          <a:p>
            <a:pPr algn="l">
              <a:spcBef>
                <a:spcPts val="600"/>
              </a:spcBef>
              <a:spcAft>
                <a:spcPts val="100"/>
              </a:spcAft>
            </a:pPr>
            <a:r>
              <a:rPr sz="1000" b="1" i="0">
                <a:solidFill>
                  <a:srgbClr val="0365B2"/>
                </a:solidFill>
                <a:latin typeface="Montserrat"/>
              </a:rPr>
              <a:t>KEY INSIGHT</a:t>
            </a:r>
          </a:p>
          <a:p>
            <a:pPr algn="l">
              <a:spcBef>
                <a:spcPts val="0"/>
              </a:spcBef>
              <a:spcAft>
                <a:spcPts val="400"/>
              </a:spcAft>
            </a:pPr>
            <a:r>
              <a:rPr sz="1300" b="0" i="1">
                <a:solidFill>
                  <a:srgbClr val="0C1115"/>
                </a:solidFill>
                <a:latin typeface="Montserrat"/>
              </a:rPr>
              <a:t>The objective is not to replicate the full functionality of the primary payment rail. It is to preserve the institution's ability to perform critical payment activities during disruption. Fallback planning should be treated as an ongoing component of operational resilience — regularly reviewed, tested, and updated — not a static business continuity exercise.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 cy="685800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3200400" cy="411480"/>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Section 3 — Observation</a:t>
            </a:r>
          </a:p>
        </p:txBody>
      </p:sp>
      <p:sp>
        <p:nvSpPr>
          <p:cNvPr id="6" name="TextBox 5"/>
          <p:cNvSpPr txBox="1"/>
          <p:nvPr/>
        </p:nvSpPr>
        <p:spPr>
          <a:xfrm>
            <a:off x="594360" y="2103120"/>
            <a:ext cx="3200400" cy="2286000"/>
          </a:xfrm>
          <a:prstGeom prst="rect">
            <a:avLst/>
          </a:prstGeom>
          <a:noFill/>
          <a:ln>
            <a:noFill/>
          </a:ln>
        </p:spPr>
        <p:txBody>
          <a:bodyPr wrap="square">
            <a:spAutoFit/>
          </a:bodyPr>
          <a:lstStyle/>
          <a:p>
            <a:pPr algn="l">
              <a:spcBef>
                <a:spcPts val="0"/>
              </a:spcBef>
              <a:spcAft>
                <a:spcPts val="500"/>
              </a:spcAft>
            </a:pPr>
            <a:r>
              <a:rPr sz="3400" b="1" i="0">
                <a:solidFill>
                  <a:srgbClr val="FFFFFF"/>
                </a:solidFill>
                <a:latin typeface="Georgia"/>
              </a:rPr>
              <a:t>Proactivity, Governance &amp; Culture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