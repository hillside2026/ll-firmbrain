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4.1 — Business Case</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The Credit Union Business Case</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200"/>
              </a:spcAft>
            </a:pPr>
            <a:r>
              <a:rPr sz="1400" b="1" i="0">
                <a:solidFill>
                  <a:srgbClr val="1D4771"/>
                </a:solidFill>
                <a:latin typeface="Montserrat"/>
              </a:rPr>
              <a:t>Potential Opportunities</a:t>
            </a:r>
          </a:p>
          <a:p>
            <a:pPr algn="l">
              <a:spcBef>
                <a:spcPts val="200"/>
              </a:spcBef>
              <a:spcAft>
                <a:spcPts val="200"/>
              </a:spcAft>
            </a:pPr>
            <a:r>
              <a:rPr sz="1400" b="0" i="0">
                <a:solidFill>
                  <a:srgbClr val="0C1115"/>
                </a:solidFill>
                <a:latin typeface="Montserrat"/>
              </a:rPr>
              <a:t>•  Retain members who expect bank-equivalent payment functionality</a:t>
            </a:r>
          </a:p>
          <a:p>
            <a:pPr algn="l">
              <a:spcBef>
                <a:spcPts val="200"/>
              </a:spcBef>
              <a:spcAft>
                <a:spcPts val="200"/>
              </a:spcAft>
            </a:pPr>
            <a:r>
              <a:rPr sz="1400" b="0" i="0">
                <a:solidFill>
                  <a:srgbClr val="0C1115"/>
                </a:solidFill>
                <a:latin typeface="Montserrat"/>
              </a:rPr>
              <a:t>•  Improve business banking offerings</a:t>
            </a:r>
          </a:p>
          <a:p>
            <a:pPr algn="l">
              <a:spcBef>
                <a:spcPts val="200"/>
              </a:spcBef>
              <a:spcAft>
                <a:spcPts val="200"/>
              </a:spcAft>
            </a:pPr>
            <a:r>
              <a:rPr sz="1400" b="0" i="0">
                <a:solidFill>
                  <a:srgbClr val="0C1115"/>
                </a:solidFill>
                <a:latin typeface="Montserrat"/>
              </a:rPr>
              <a:t>•  Faster account funding and treasury services</a:t>
            </a:r>
          </a:p>
          <a:p>
            <a:pPr algn="l">
              <a:spcBef>
                <a:spcPts val="200"/>
              </a:spcBef>
              <a:spcAft>
                <a:spcPts val="200"/>
              </a:spcAft>
            </a:pPr>
            <a:r>
              <a:rPr sz="1400" b="0" i="0">
                <a:solidFill>
                  <a:srgbClr val="0C1115"/>
                </a:solidFill>
                <a:latin typeface="Montserrat"/>
              </a:rPr>
              <a:t>•  Better integration with digital banking and commercial cash-management tools</a:t>
            </a:r>
          </a:p>
          <a:p>
            <a:pPr algn="l">
              <a:spcBef>
                <a:spcPts val="200"/>
              </a:spcBef>
              <a:spcAft>
                <a:spcPts val="200"/>
              </a:spcAft>
            </a:pPr>
            <a:r>
              <a:rPr sz="1400" b="0" i="0">
                <a:solidFill>
                  <a:srgbClr val="0C1115"/>
                </a:solidFill>
                <a:latin typeface="Montserrat"/>
              </a:rPr>
              <a:t>•  Reduce dependence on slower payment rails for certain use cases</a:t>
            </a:r>
          </a:p>
          <a:p>
            <a:pPr algn="l">
              <a:spcBef>
                <a:spcPts val="200"/>
              </a:spcBef>
              <a:spcAft>
                <a:spcPts val="200"/>
              </a:spcAft>
            </a:pPr>
            <a:r>
              <a:rPr sz="1400" b="0" i="0">
                <a:solidFill>
                  <a:srgbClr val="0C1115"/>
                </a:solidFill>
                <a:latin typeface="Montserrat"/>
              </a:rPr>
              <a:t>•  Participate in Canada's evolving real-time payment ecosystem</a:t>
            </a:r>
          </a:p>
          <a:p>
            <a:pPr algn="l">
              <a:spcBef>
                <a:spcPts val="600"/>
              </a:spcBef>
              <a:spcAft>
                <a:spcPts val="200"/>
              </a:spcAft>
            </a:pPr>
            <a:r>
              <a:rPr sz="1400" b="1" i="0">
                <a:solidFill>
                  <a:srgbClr val="1D4771"/>
                </a:solidFill>
                <a:latin typeface="Montserrat"/>
              </a:rPr>
              <a:t>The Challenge</a:t>
            </a:r>
          </a:p>
          <a:p>
            <a:pPr algn="l">
              <a:spcBef>
                <a:spcPts val="600"/>
              </a:spcBef>
              <a:spcAft>
                <a:spcPts val="400"/>
              </a:spcAft>
            </a:pPr>
            <a:r>
              <a:rPr sz="1500" b="0" i="0">
                <a:solidFill>
                  <a:srgbClr val="334E68"/>
                </a:solidFill>
                <a:latin typeface="Montserrat"/>
              </a:rPr>
              <a:t>The challenge is generally not identifying a use case. The challenge is justifying the investment, liquidity management requirements, operational resilience obligations, and continuous-service expectations that accompany participation.</a:t>
            </a:r>
          </a:p>
          <a:p>
            <a:pPr algn="l">
              <a:spcBef>
                <a:spcPts val="600"/>
              </a:spcBef>
              <a:spcAft>
                <a:spcPts val="100"/>
              </a:spcAft>
            </a:pPr>
            <a:r>
              <a:rPr sz="1000" b="1" i="0">
                <a:solidFill>
                  <a:srgbClr val="0365B2"/>
                </a:solidFill>
                <a:latin typeface="Montserrat"/>
              </a:rPr>
              <a:t>THE PREMISE</a:t>
            </a:r>
          </a:p>
          <a:p>
            <a:pPr algn="l">
              <a:spcBef>
                <a:spcPts val="0"/>
              </a:spcBef>
              <a:spcAft>
                <a:spcPts val="400"/>
              </a:spcAft>
            </a:pPr>
            <a:r>
              <a:rPr sz="1300" b="0" i="1">
                <a:solidFill>
                  <a:srgbClr val="0C1115"/>
                </a:solidFill>
                <a:latin typeface="Montserrat"/>
              </a:rPr>
              <a:t>Can the institution support the liquidity, operational, compliance, and resilience obligations that participation entails — and on what timeline? Once that question is accepted, the focus shifts away from whether participation is desirable toward how it can be supported safely, sustainably, and economically.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4.2 — Strategic Questions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Who Pays For It?</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Real-time payment participation involves significant investment across multiple functions — technology, operations, treasury, fraud management, cybersecurity, compliance, and customer support. The economics of that investment are not the same for every institution.</a:t>
            </a:r>
          </a:p>
          <a:p>
            <a:pPr algn="l">
              <a:spcBef>
                <a:spcPts val="600"/>
              </a:spcBef>
              <a:spcAft>
                <a:spcPts val="400"/>
              </a:spcAft>
            </a:pPr>
            <a:r>
              <a:rPr sz="1500" b="0" i="0">
                <a:solidFill>
                  <a:srgbClr val="334E68"/>
                </a:solidFill>
                <a:latin typeface="Montserrat"/>
              </a:rPr>
              <a:t>Can spread technology investments, operational teams, treasury functions, fraud-management capabilities, cybersecurity resources, compliance programs, and customer-support functions across millions of customers.</a:t>
            </a:r>
          </a:p>
          <a:p>
            <a:pPr algn="l">
              <a:spcBef>
                <a:spcPts val="600"/>
              </a:spcBef>
              <a:spcAft>
                <a:spcPts val="400"/>
              </a:spcAft>
            </a:pPr>
            <a:r>
              <a:rPr sz="1500" b="0" i="0">
                <a:solidFill>
                  <a:srgbClr val="334E68"/>
                </a:solidFill>
                <a:latin typeface="Montserrat"/>
              </a:rPr>
              <a:t>Fixed costs of participation are absorbed across a large transaction base — improving per-unit economics at scale.</a:t>
            </a:r>
          </a:p>
          <a:p>
            <a:pPr algn="l">
              <a:spcBef>
                <a:spcPts val="600"/>
              </a:spcBef>
              <a:spcAft>
                <a:spcPts val="400"/>
              </a:spcAft>
            </a:pPr>
            <a:r>
              <a:rPr sz="1500" b="0" i="0">
                <a:solidFill>
                  <a:srgbClr val="334E68"/>
                </a:solidFill>
                <a:latin typeface="Montserrat"/>
              </a:rPr>
              <a:t>Often cannot spread those same costs across an equivalent customer base. The question is whether the benefits of member retention and business banking growth justify the operational cost.</a:t>
            </a:r>
          </a:p>
          <a:p>
            <a:pPr algn="l">
              <a:spcBef>
                <a:spcPts val="600"/>
              </a:spcBef>
              <a:spcAft>
                <a:spcPts val="400"/>
              </a:spcAft>
            </a:pPr>
            <a:r>
              <a:rPr sz="1500" b="0" i="0">
                <a:solidFill>
                  <a:srgbClr val="334E68"/>
                </a:solidFill>
                <a:latin typeface="Montserrat"/>
              </a:rPr>
              <a:t>In many cases, this is less a technology question than a scale question. The economics of participation often improve materially as transaction volumes increase.</a:t>
            </a:r>
          </a:p>
          <a:p>
            <a:pPr algn="l">
              <a:spcBef>
                <a:spcPts val="600"/>
              </a:spcBef>
              <a:spcAft>
                <a:spcPts val="100"/>
              </a:spcAft>
            </a:pPr>
            <a:r>
              <a:rPr sz="1000" b="1" i="0">
                <a:solidFill>
                  <a:srgbClr val="0365B2"/>
                </a:solidFill>
                <a:latin typeface="Montserrat"/>
              </a:rPr>
              <a:t>INSIGHT</a:t>
            </a:r>
          </a:p>
          <a:p>
            <a:pPr algn="l">
              <a:spcBef>
                <a:spcPts val="0"/>
              </a:spcBef>
              <a:spcAft>
                <a:spcPts val="400"/>
              </a:spcAft>
            </a:pPr>
            <a:r>
              <a:rPr sz="1300" b="0" i="1">
                <a:solidFill>
                  <a:srgbClr val="0C1115"/>
                </a:solidFill>
                <a:latin typeface="Montserrat"/>
              </a:rPr>
              <a:t>The question is not whether participation would be beneficial — it often would. The question is whether the institution can build the operational and financial model to support it sustainably.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4.2 — Strategic Questions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How Much Liquidity Must Be Committed?</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200"/>
              </a:spcAft>
            </a:pPr>
            <a:r>
              <a:rPr sz="1400" b="1" i="0">
                <a:solidFill>
                  <a:srgbClr val="1D4771"/>
                </a:solidFill>
                <a:latin typeface="Montserrat"/>
              </a:rPr>
              <a:t>Historically</a:t>
            </a:r>
          </a:p>
          <a:p>
            <a:pPr algn="l">
              <a:spcBef>
                <a:spcPts val="100"/>
              </a:spcBef>
              <a:spcAft>
                <a:spcPts val="500"/>
              </a:spcAft>
            </a:pPr>
            <a:r>
              <a:rPr sz="1300" b="0" i="0">
                <a:solidFill>
                  <a:srgbClr val="334E68"/>
                </a:solidFill>
                <a:latin typeface="Montserrat"/>
              </a:rPr>
              <a:t>Liquidity management was primarily a treasury function. Payment obligations accumulated, were netted, and settled on predetermined schedules. Funding decisions were made with reference to known settlement windows.</a:t>
            </a:r>
          </a:p>
          <a:p>
            <a:pPr algn="l">
              <a:spcBef>
                <a:spcPts val="600"/>
              </a:spcBef>
              <a:spcAft>
                <a:spcPts val="200"/>
              </a:spcAft>
            </a:pPr>
            <a:r>
              <a:rPr sz="1400" b="1" i="0">
                <a:solidFill>
                  <a:srgbClr val="1D4771"/>
                </a:solidFill>
                <a:latin typeface="Montserrat"/>
              </a:rPr>
              <a:t>Real-Time Systems</a:t>
            </a:r>
          </a:p>
          <a:p>
            <a:pPr algn="l">
              <a:spcBef>
                <a:spcPts val="100"/>
              </a:spcBef>
              <a:spcAft>
                <a:spcPts val="500"/>
              </a:spcAft>
            </a:pPr>
            <a:r>
              <a:rPr sz="1300" b="0" i="0">
                <a:solidFill>
                  <a:srgbClr val="334E68"/>
                </a:solidFill>
                <a:latin typeface="Montserrat"/>
              </a:rPr>
              <a:t>Liquidity management becomes a daily operational requirement. Funds must be available at or near the moment the payment is processed — 24 hours a day, 7 days a week, 365 days a year.</a:t>
            </a:r>
          </a:p>
          <a:p>
            <a:pPr algn="l">
              <a:spcBef>
                <a:spcPts val="600"/>
              </a:spcBef>
              <a:spcAft>
                <a:spcPts val="400"/>
              </a:spcAft>
            </a:pPr>
            <a:r>
              <a:rPr sz="1500" b="0" i="0">
                <a:solidFill>
                  <a:srgbClr val="334E68"/>
                </a:solidFill>
                <a:latin typeface="Montserrat"/>
              </a:rPr>
              <a:t>Institutions Must Determine</a:t>
            </a:r>
          </a:p>
          <a:p>
            <a:pPr algn="l">
              <a:spcBef>
                <a:spcPts val="0"/>
              </a:spcBef>
              <a:spcAft>
                <a:spcPts val="400"/>
              </a:spcAft>
            </a:pPr>
            <a:r>
              <a:rPr sz="1300" b="0" i="0">
                <a:solidFill>
                  <a:srgbClr val="0C1115"/>
                </a:solidFill>
                <a:latin typeface="Montserrat"/>
              </a:rPr>
              <a:t>How much liquidity to maintain at all times</a:t>
            </a:r>
          </a:p>
          <a:p>
            <a:pPr algn="l">
              <a:spcBef>
                <a:spcPts val="0"/>
              </a:spcBef>
              <a:spcAft>
                <a:spcPts val="400"/>
              </a:spcAft>
            </a:pPr>
            <a:r>
              <a:rPr sz="1300" b="0" i="0">
                <a:solidFill>
                  <a:srgbClr val="0C1115"/>
                </a:solidFill>
                <a:latin typeface="Montserrat"/>
              </a:rPr>
              <a:t>What buffers are required for elevated volume periods</a:t>
            </a:r>
          </a:p>
          <a:p>
            <a:pPr algn="l">
              <a:spcBef>
                <a:spcPts val="0"/>
              </a:spcBef>
              <a:spcAft>
                <a:spcPts val="400"/>
              </a:spcAft>
            </a:pPr>
            <a:r>
              <a:rPr sz="1300" b="0" i="0">
                <a:solidFill>
                  <a:srgbClr val="0C1115"/>
                </a:solidFill>
                <a:latin typeface="Montserrat"/>
              </a:rPr>
              <a:t>How liquidity will be replenished continuously</a:t>
            </a:r>
          </a:p>
          <a:p>
            <a:pPr algn="l">
              <a:spcBef>
                <a:spcPts val="0"/>
              </a:spcBef>
              <a:spcAft>
                <a:spcPts val="400"/>
              </a:spcAft>
            </a:pPr>
            <a:r>
              <a:rPr sz="1300" b="0" i="0">
                <a:solidFill>
                  <a:srgbClr val="0C1115"/>
                </a:solidFill>
                <a:latin typeface="Montserrat"/>
              </a:rPr>
              <a:t>How unexpected payment volumes will be managed</a:t>
            </a:r>
          </a:p>
          <a:p>
            <a:pPr algn="l">
              <a:spcBef>
                <a:spcPts val="0"/>
              </a:spcBef>
              <a:spcAft>
                <a:spcPts val="400"/>
              </a:spcAft>
            </a:pPr>
            <a:r>
              <a:rPr sz="1300" b="0" i="0">
                <a:solidFill>
                  <a:srgbClr val="0C1115"/>
                </a:solidFill>
                <a:latin typeface="Montserrat"/>
              </a:rPr>
              <a:t>How liquidity will be monitored and managed outside traditional business hours</a:t>
            </a:r>
          </a:p>
          <a:p>
            <a:pPr algn="l">
              <a:spcBef>
                <a:spcPts val="600"/>
              </a:spcBef>
              <a:spcAft>
                <a:spcPts val="100"/>
              </a:spcAft>
            </a:pPr>
            <a:r>
              <a:rPr sz="1000" b="1" i="0">
                <a:solidFill>
                  <a:srgbClr val="0365B2"/>
                </a:solidFill>
                <a:latin typeface="Montserrat"/>
              </a:rPr>
              <a:t>GOVERNANCE IMPLICATION</a:t>
            </a:r>
          </a:p>
          <a:p>
            <a:pPr algn="l">
              <a:spcBef>
                <a:spcPts val="0"/>
              </a:spcBef>
              <a:spcAft>
                <a:spcPts val="400"/>
              </a:spcAft>
            </a:pPr>
            <a:r>
              <a:rPr sz="1300" b="0" i="1">
                <a:solidFill>
                  <a:srgbClr val="0C1115"/>
                </a:solidFill>
                <a:latin typeface="Montserrat"/>
              </a:rPr>
              <a:t>These are not merely treasury questions. They are questions about capital allocation, operating model design, and the economics of participation.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4.2 — Strategic Questions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Can We Operate 24 / 7?</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Many financial institutions remain operationally organized around business hours. Real-time payment systems operate continuously — and require the operational infrastructure to match.</a:t>
            </a:r>
          </a:p>
          <a:p>
            <a:pPr algn="l">
              <a:spcBef>
                <a:spcPts val="600"/>
              </a:spcBef>
              <a:spcAft>
                <a:spcPts val="100"/>
              </a:spcAft>
            </a:pPr>
            <a:r>
              <a:rPr sz="1000" b="1" i="0">
                <a:solidFill>
                  <a:srgbClr val="6DA3D9"/>
                </a:solidFill>
                <a:latin typeface="Montserrat"/>
              </a:rPr>
              <a:t>CONTINUOUS MONITORING</a:t>
            </a:r>
          </a:p>
          <a:p>
            <a:pPr algn="l">
              <a:spcBef>
                <a:spcPts val="0"/>
              </a:spcBef>
              <a:spcAft>
                <a:spcPts val="400"/>
              </a:spcAft>
            </a:pPr>
            <a:r>
              <a:rPr sz="1300" b="0" i="0">
                <a:solidFill>
                  <a:srgbClr val="0C1115"/>
                </a:solidFill>
                <a:latin typeface="Montserrat"/>
              </a:rPr>
              <a:t>Transaction monitoring, fraud alerts, and system health checks that operate outside business hours</a:t>
            </a:r>
          </a:p>
          <a:p>
            <a:pPr algn="l">
              <a:spcBef>
                <a:spcPts val="600"/>
              </a:spcBef>
              <a:spcAft>
                <a:spcPts val="100"/>
              </a:spcAft>
            </a:pPr>
            <a:r>
              <a:rPr sz="1000" b="1" i="0">
                <a:solidFill>
                  <a:srgbClr val="6DA3D9"/>
                </a:solidFill>
                <a:latin typeface="Montserrat"/>
              </a:rPr>
              <a:t>CONTINUOUS INCIDENT RESPONSE</a:t>
            </a:r>
          </a:p>
          <a:p>
            <a:pPr algn="l">
              <a:spcBef>
                <a:spcPts val="0"/>
              </a:spcBef>
              <a:spcAft>
                <a:spcPts val="400"/>
              </a:spcAft>
            </a:pPr>
            <a:r>
              <a:rPr sz="1300" b="0" i="0">
                <a:solidFill>
                  <a:srgbClr val="0C1115"/>
                </a:solidFill>
                <a:latin typeface="Montserrat"/>
              </a:rPr>
              <a:t>On-call procedures, escalation paths, and resolution capabilities available at any hour</a:t>
            </a:r>
          </a:p>
          <a:p>
            <a:pPr algn="l">
              <a:spcBef>
                <a:spcPts val="600"/>
              </a:spcBef>
              <a:spcAft>
                <a:spcPts val="100"/>
              </a:spcAft>
            </a:pPr>
            <a:r>
              <a:rPr sz="1000" b="1" i="0">
                <a:solidFill>
                  <a:srgbClr val="6DA3D9"/>
                </a:solidFill>
                <a:latin typeface="Montserrat"/>
              </a:rPr>
              <a:t>CONTINUOUS FRAUD MANAGEMENT</a:t>
            </a:r>
          </a:p>
          <a:p>
            <a:pPr algn="l">
              <a:spcBef>
                <a:spcPts val="0"/>
              </a:spcBef>
              <a:spcAft>
                <a:spcPts val="400"/>
              </a:spcAft>
            </a:pPr>
            <a:r>
              <a:rPr sz="1300" b="0" i="0">
                <a:solidFill>
                  <a:srgbClr val="0C1115"/>
                </a:solidFill>
                <a:latin typeface="Montserrat"/>
              </a:rPr>
              <a:t>Automated and human fraud oversight that does not pause at 5:00 p.m.</a:t>
            </a:r>
          </a:p>
          <a:p>
            <a:pPr algn="l">
              <a:spcBef>
                <a:spcPts val="600"/>
              </a:spcBef>
              <a:spcAft>
                <a:spcPts val="100"/>
              </a:spcAft>
            </a:pPr>
            <a:r>
              <a:rPr sz="1000" b="1" i="0">
                <a:solidFill>
                  <a:srgbClr val="6DA3D9"/>
                </a:solidFill>
                <a:latin typeface="Montserrat"/>
              </a:rPr>
              <a:t>CONTINUOUS VENDOR OVERSIGHT</a:t>
            </a:r>
          </a:p>
          <a:p>
            <a:pPr algn="l">
              <a:spcBef>
                <a:spcPts val="0"/>
              </a:spcBef>
              <a:spcAft>
                <a:spcPts val="400"/>
              </a:spcAft>
            </a:pPr>
            <a:r>
              <a:rPr sz="1300" b="0" i="0">
                <a:solidFill>
                  <a:srgbClr val="0C1115"/>
                </a:solidFill>
                <a:latin typeface="Montserrat"/>
              </a:rPr>
              <a:t>Monitoring of critical service providers whose failures may become immediately visible to customers</a:t>
            </a:r>
          </a:p>
          <a:p>
            <a:pPr algn="l">
              <a:spcBef>
                <a:spcPts val="600"/>
              </a:spcBef>
              <a:spcAft>
                <a:spcPts val="100"/>
              </a:spcAft>
            </a:pPr>
            <a:r>
              <a:rPr sz="1000" b="1" i="0">
                <a:solidFill>
                  <a:srgbClr val="6DA3D9"/>
                </a:solidFill>
                <a:latin typeface="Montserrat"/>
              </a:rPr>
              <a:t>CONTINUOUS AVAILABILITY</a:t>
            </a:r>
          </a:p>
          <a:p>
            <a:pPr algn="l">
              <a:spcBef>
                <a:spcPts val="0"/>
              </a:spcBef>
              <a:spcAft>
                <a:spcPts val="400"/>
              </a:spcAft>
            </a:pPr>
            <a:r>
              <a:rPr sz="1300" b="0" i="0">
                <a:solidFill>
                  <a:srgbClr val="0C1115"/>
                </a:solidFill>
                <a:latin typeface="Montserrat"/>
              </a:rPr>
              <a:t>Customer expectation that payment services will be accessible at all times — with no planned downtime window</a:t>
            </a:r>
          </a:p>
          <a:p>
            <a:pPr algn="l">
              <a:spcBef>
                <a:spcPts val="600"/>
              </a:spcBef>
              <a:spcAft>
                <a:spcPts val="100"/>
              </a:spcAft>
            </a:pPr>
            <a:r>
              <a:rPr sz="1000" b="1" i="0">
                <a:solidFill>
                  <a:srgbClr val="6DA3D9"/>
                </a:solidFill>
                <a:latin typeface="Montserrat"/>
              </a:rPr>
              <a:t>THE SHIFT</a:t>
            </a:r>
          </a:p>
          <a:p>
            <a:pPr algn="l">
              <a:spcBef>
                <a:spcPts val="0"/>
              </a:spcBef>
              <a:spcAft>
                <a:spcPts val="400"/>
              </a:spcAft>
            </a:pPr>
            <a:r>
              <a:rPr sz="1300" b="0" i="0">
                <a:solidFill>
                  <a:srgbClr val="0C1115"/>
                </a:solidFill>
                <a:latin typeface="Montserrat"/>
              </a:rPr>
              <a:t>Organizations that historically operated on banking schedules must begin thinking more like operators of critical infrastructure</a:t>
            </a:r>
          </a:p>
          <a:p>
            <a:pPr algn="l">
              <a:spcBef>
                <a:spcPts val="600"/>
              </a:spcBef>
              <a:spcAft>
                <a:spcPts val="100"/>
              </a:spcAft>
            </a:pPr>
            <a:r>
              <a:rPr sz="1000" b="1" i="0">
                <a:solidFill>
                  <a:srgbClr val="0365B2"/>
                </a:solidFill>
                <a:latin typeface="Montserrat"/>
              </a:rPr>
              <a:t>KEY QUESTION</a:t>
            </a:r>
          </a:p>
          <a:p>
            <a:pPr algn="l">
              <a:spcBef>
                <a:spcPts val="0"/>
              </a:spcBef>
              <a:spcAft>
                <a:spcPts val="400"/>
              </a:spcAft>
            </a:pPr>
            <a:r>
              <a:rPr sz="1300" b="0" i="1">
                <a:solidFill>
                  <a:srgbClr val="0C1115"/>
                </a:solidFill>
                <a:latin typeface="Montserrat"/>
              </a:rPr>
              <a:t>For some institutions, 24/7 operational readiness may be the most significant change required — more significant than the technology investment itself.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4.2 — Strategic Questions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Can We Manage Real-Time Fraud?</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Historically, time itself functioned as a control. Mitigation windows between initiation, clearing, and settlement provided time to detect, investigate, and intervene.</a:t>
            </a:r>
          </a:p>
          <a:p>
            <a:pPr algn="l">
              <a:spcBef>
                <a:spcPts val="600"/>
              </a:spcBef>
              <a:spcAft>
                <a:spcPts val="400"/>
              </a:spcAft>
            </a:pPr>
            <a:r>
              <a:rPr sz="1500" b="0" i="0">
                <a:solidFill>
                  <a:srgbClr val="334E68"/>
                </a:solidFill>
                <a:latin typeface="Montserrat"/>
              </a:rPr>
              <a:t>Real-time payment systems significantly reduce or eliminate those windows. Institutions must increasingly rely on preventative, automated controls applied before a payment instruction is transmitted.</a:t>
            </a:r>
          </a:p>
          <a:p>
            <a:pPr algn="l">
              <a:spcBef>
                <a:spcPts val="600"/>
              </a:spcBef>
              <a:spcAft>
                <a:spcPts val="400"/>
              </a:spcAft>
            </a:pPr>
            <a:r>
              <a:rPr sz="1500" b="0" i="0">
                <a:solidFill>
                  <a:srgbClr val="334E68"/>
                </a:solidFill>
                <a:latin typeface="Montserrat"/>
              </a:rPr>
              <a:t>Required Capabilities</a:t>
            </a:r>
          </a:p>
          <a:p>
            <a:pPr algn="l">
              <a:spcBef>
                <a:spcPts val="600"/>
              </a:spcBef>
              <a:spcAft>
                <a:spcPts val="100"/>
              </a:spcAft>
            </a:pPr>
            <a:r>
              <a:rPr sz="1000" b="1" i="0">
                <a:solidFill>
                  <a:srgbClr val="0365B2"/>
                </a:solidFill>
                <a:latin typeface="Montserrat"/>
              </a:rPr>
              <a:t>INVESTMENT SCOPE</a:t>
            </a:r>
          </a:p>
          <a:p>
            <a:pPr algn="l">
              <a:spcBef>
                <a:spcPts val="0"/>
              </a:spcBef>
              <a:spcAft>
                <a:spcPts val="400"/>
              </a:spcAft>
            </a:pPr>
            <a:r>
              <a:rPr sz="1300" b="0" i="1">
                <a:solidFill>
                  <a:srgbClr val="0C1115"/>
                </a:solidFill>
                <a:latin typeface="Montserrat"/>
              </a:rPr>
              <a:t>The investment required frequently extends beyond payment technology itself — into fraud operations, staffing, governance, and vendor relationships. These are operational decisions, not merely technology decisions.</a:t>
            </a:r>
          </a:p>
          <a:p>
            <a:pPr algn="l">
              <a:spcBef>
                <a:spcPts val="600"/>
              </a:spcBef>
              <a:spcAft>
                <a:spcPts val="100"/>
              </a:spcAft>
            </a:pPr>
            <a:r>
              <a:rPr sz="1000" b="1" i="0">
                <a:solidFill>
                  <a:srgbClr val="0365B2"/>
                </a:solidFill>
                <a:latin typeface="Montserrat"/>
              </a:rPr>
              <a:t>THE SHIFT</a:t>
            </a:r>
          </a:p>
          <a:p>
            <a:pPr algn="l">
              <a:spcBef>
                <a:spcPts val="0"/>
              </a:spcBef>
              <a:spcAft>
                <a:spcPts val="400"/>
              </a:spcAft>
            </a:pPr>
            <a:r>
              <a:rPr sz="1300" b="0" i="1">
                <a:solidFill>
                  <a:srgbClr val="0C1115"/>
                </a:solidFill>
                <a:latin typeface="Montserrat"/>
              </a:rPr>
              <a:t>From corrective controls applied after initiation → to preventative controls applied before initiation. The control framework must be designed for the speed of the payment system, not built for a batch environment.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4.2 — Strategic Questions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Can We Meet Resilience Expectations?</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Real-time payment systems create new uptime and availability expectations. An outage at 11:00 p.m. may be as significant as one at 11:00 a.m. Institutions must have answers across every dimension of resilience.</a:t>
            </a:r>
          </a:p>
          <a:p>
            <a:pPr algn="l">
              <a:spcBef>
                <a:spcPts val="600"/>
              </a:spcBef>
              <a:spcAft>
                <a:spcPts val="400"/>
              </a:spcAft>
            </a:pPr>
            <a:r>
              <a:rPr sz="1500" b="0" i="0">
                <a:solidFill>
                  <a:srgbClr val="334E68"/>
                </a:solidFill>
                <a:latin typeface="Montserrat"/>
              </a:rPr>
              <a:t>What operating model must we build to support real-time payments safely and sustainably?</a:t>
            </a:r>
          </a:p>
          <a:p>
            <a:pPr algn="l">
              <a:spcBef>
                <a:spcPts val="600"/>
              </a:spcBef>
              <a:spcAft>
                <a:spcPts val="400"/>
              </a:spcAft>
            </a:pPr>
            <a:r>
              <a:rPr sz="1500" b="0" i="0">
                <a:solidFill>
                  <a:srgbClr val="334E68"/>
                </a:solidFill>
                <a:latin typeface="Montserrat"/>
              </a:rPr>
              <a:t>These strategic questions converge on a single governance decision: the choice of participation model. The following sections examine two principal models — direct participation and sponsored participation — and the trade-offs each entails.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4.3 — Participation Models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Direct Participation</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Under direct participation, an institution connects directly to the payment rail and performs the functions required of participants under the applicable payment-system framework.</a:t>
            </a:r>
          </a:p>
          <a:p>
            <a:pPr algn="l">
              <a:spcBef>
                <a:spcPts val="600"/>
              </a:spcBef>
              <a:spcAft>
                <a:spcPts val="200"/>
              </a:spcAft>
            </a:pPr>
            <a:r>
              <a:rPr sz="1400" b="1" i="0">
                <a:solidFill>
                  <a:srgbClr val="1D4771"/>
                </a:solidFill>
                <a:latin typeface="Montserrat"/>
              </a:rPr>
              <a:t>Potential Advantages</a:t>
            </a:r>
          </a:p>
          <a:p>
            <a:pPr algn="l">
              <a:spcBef>
                <a:spcPts val="200"/>
              </a:spcBef>
              <a:spcAft>
                <a:spcPts val="200"/>
              </a:spcAft>
            </a:pPr>
            <a:r>
              <a:rPr sz="1400" b="0" i="0">
                <a:solidFill>
                  <a:srgbClr val="0C1115"/>
                </a:solidFill>
                <a:latin typeface="Montserrat"/>
              </a:rPr>
              <a:t>•  Greater operational control over payment functions</a:t>
            </a:r>
          </a:p>
          <a:p>
            <a:pPr algn="l">
              <a:spcBef>
                <a:spcPts val="200"/>
              </a:spcBef>
              <a:spcAft>
                <a:spcPts val="200"/>
              </a:spcAft>
            </a:pPr>
            <a:r>
              <a:rPr sz="1400" b="0" i="0">
                <a:solidFill>
                  <a:srgbClr val="0C1115"/>
                </a:solidFill>
                <a:latin typeface="Montserrat"/>
              </a:rPr>
              <a:t>•  Direct access to payment infrastructure and functionality</a:t>
            </a:r>
          </a:p>
          <a:p>
            <a:pPr algn="l">
              <a:spcBef>
                <a:spcPts val="200"/>
              </a:spcBef>
              <a:spcAft>
                <a:spcPts val="200"/>
              </a:spcAft>
            </a:pPr>
            <a:r>
              <a:rPr sz="1400" b="0" i="0">
                <a:solidFill>
                  <a:srgbClr val="0C1115"/>
                </a:solidFill>
                <a:latin typeface="Montserrat"/>
              </a:rPr>
              <a:t>•  Greater product flexibility and faster iteration</a:t>
            </a:r>
          </a:p>
          <a:p>
            <a:pPr algn="l">
              <a:spcBef>
                <a:spcPts val="200"/>
              </a:spcBef>
              <a:spcAft>
                <a:spcPts val="200"/>
              </a:spcAft>
            </a:pPr>
            <a:r>
              <a:rPr sz="1400" b="0" i="0">
                <a:solidFill>
                  <a:srgbClr val="0C1115"/>
                </a:solidFill>
                <a:latin typeface="Montserrat"/>
              </a:rPr>
              <a:t>•  Enhanced strategic independence</a:t>
            </a:r>
          </a:p>
          <a:p>
            <a:pPr algn="l">
              <a:spcBef>
                <a:spcPts val="200"/>
              </a:spcBef>
              <a:spcAft>
                <a:spcPts val="200"/>
              </a:spcAft>
            </a:pPr>
            <a:r>
              <a:rPr sz="1400" b="0" i="0">
                <a:solidFill>
                  <a:srgbClr val="0C1115"/>
                </a:solidFill>
                <a:latin typeface="Montserrat"/>
              </a:rPr>
              <a:t>•  Reduced reliance on intermediaries</a:t>
            </a:r>
          </a:p>
          <a:p>
            <a:pPr algn="l">
              <a:spcBef>
                <a:spcPts val="200"/>
              </a:spcBef>
              <a:spcAft>
                <a:spcPts val="200"/>
              </a:spcAft>
            </a:pPr>
            <a:r>
              <a:rPr sz="1400" b="0" i="0">
                <a:solidFill>
                  <a:srgbClr val="0C1115"/>
                </a:solidFill>
                <a:latin typeface="Montserrat"/>
              </a:rPr>
              <a:t>•  Direct visibility into payment operations and data</a:t>
            </a:r>
          </a:p>
          <a:p>
            <a:pPr algn="l">
              <a:spcBef>
                <a:spcPts val="600"/>
              </a:spcBef>
              <a:spcAft>
                <a:spcPts val="200"/>
              </a:spcAft>
            </a:pPr>
            <a:r>
              <a:rPr sz="1400" b="1" i="0">
                <a:solidFill>
                  <a:srgbClr val="1D4771"/>
                </a:solidFill>
                <a:latin typeface="Montserrat"/>
              </a:rPr>
              <a:t>Responsibilities Assumed</a:t>
            </a:r>
          </a:p>
          <a:p>
            <a:pPr algn="l">
              <a:spcBef>
                <a:spcPts val="200"/>
              </a:spcBef>
              <a:spcAft>
                <a:spcPts val="200"/>
              </a:spcAft>
            </a:pPr>
            <a:r>
              <a:rPr sz="1400" b="0" i="0">
                <a:solidFill>
                  <a:srgbClr val="0C1115"/>
                </a:solidFill>
                <a:latin typeface="Montserrat"/>
              </a:rPr>
              <a:t>•  Connectivity infrastructure and technical integration</a:t>
            </a:r>
          </a:p>
          <a:p>
            <a:pPr algn="l">
              <a:spcBef>
                <a:spcPts val="200"/>
              </a:spcBef>
              <a:spcAft>
                <a:spcPts val="200"/>
              </a:spcAft>
            </a:pPr>
            <a:r>
              <a:rPr sz="1400" b="0" i="0">
                <a:solidFill>
                  <a:srgbClr val="0C1115"/>
                </a:solidFill>
                <a:latin typeface="Montserrat"/>
              </a:rPr>
              <a:t>•  Liquidity management — continuous, 24/7</a:t>
            </a:r>
          </a:p>
          <a:p>
            <a:pPr algn="l">
              <a:spcBef>
                <a:spcPts val="200"/>
              </a:spcBef>
              <a:spcAft>
                <a:spcPts val="200"/>
              </a:spcAft>
            </a:pPr>
            <a:r>
              <a:rPr sz="1400" b="0" i="0">
                <a:solidFill>
                  <a:srgbClr val="0C1115"/>
                </a:solidFill>
                <a:latin typeface="Montserrat"/>
              </a:rPr>
              <a:t>•  Operational resilience programs and uptime obligations</a:t>
            </a:r>
          </a:p>
          <a:p>
            <a:pPr algn="l">
              <a:spcBef>
                <a:spcPts val="200"/>
              </a:spcBef>
              <a:spcAft>
                <a:spcPts val="200"/>
              </a:spcAft>
            </a:pPr>
            <a:r>
              <a:rPr sz="1400" b="0" i="0">
                <a:solidFill>
                  <a:srgbClr val="0C1115"/>
                </a:solidFill>
                <a:latin typeface="Montserrat"/>
              </a:rPr>
              <a:t>•  Fraud-management controls</a:t>
            </a:r>
          </a:p>
          <a:p>
            <a:pPr algn="l">
              <a:spcBef>
                <a:spcPts val="200"/>
              </a:spcBef>
              <a:spcAft>
                <a:spcPts val="200"/>
              </a:spcAft>
            </a:pPr>
            <a:r>
              <a:rPr sz="1400" b="0" i="0">
                <a:solidFill>
                  <a:srgbClr val="0C1115"/>
                </a:solidFill>
                <a:latin typeface="Montserrat"/>
              </a:rPr>
              <a:t>•  Compliance, sanctions screening, and AML obligations</a:t>
            </a:r>
          </a:p>
          <a:p>
            <a:pPr algn="l">
              <a:spcBef>
                <a:spcPts val="200"/>
              </a:spcBef>
              <a:spcAft>
                <a:spcPts val="200"/>
              </a:spcAft>
            </a:pPr>
            <a:r>
              <a:rPr sz="1400" b="0" i="0">
                <a:solidFill>
                  <a:srgbClr val="0C1115"/>
                </a:solidFill>
                <a:latin typeface="Montserrat"/>
              </a:rPr>
              <a:t>•  Business continuity and disaster recovery procedures</a:t>
            </a:r>
          </a:p>
          <a:p>
            <a:pPr algn="l">
              <a:spcBef>
                <a:spcPts val="200"/>
              </a:spcBef>
              <a:spcAft>
                <a:spcPts val="200"/>
              </a:spcAft>
            </a:pPr>
            <a:r>
              <a:rPr sz="1400" b="0" i="0">
                <a:solidFill>
                  <a:srgbClr val="0C1115"/>
                </a:solidFill>
                <a:latin typeface="Montserrat"/>
              </a:rPr>
              <a:t>•  Ongoing governance and rule-compliance participation</a:t>
            </a:r>
          </a:p>
          <a:p>
            <a:pPr algn="l">
              <a:spcBef>
                <a:spcPts val="600"/>
              </a:spcBef>
              <a:spcAft>
                <a:spcPts val="400"/>
              </a:spcAft>
            </a:pPr>
            <a:r>
              <a:rPr sz="1500" b="0" i="0">
                <a:solidFill>
                  <a:srgbClr val="334E68"/>
                </a:solidFill>
                <a:latin typeface="Montserrat"/>
              </a:rPr>
              <a:t>Direct participation maximizes control, but it also concentrates responsibility. For larger institutions with sufficient scale and operational maturity, that trade-off may be attractive. For smaller institutions, the operational burden may outweigh the benefits.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4.4 — Participation Models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Sponsored Participation</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A sponsored or indirect participation model allows an institution to access payment infrastructure through another participant. Common throughout global payment systems — often the most practical path for smaller institutions.</a:t>
            </a:r>
          </a:p>
          <a:p>
            <a:pPr algn="l">
              <a:spcBef>
                <a:spcPts val="600"/>
              </a:spcBef>
              <a:spcAft>
                <a:spcPts val="200"/>
              </a:spcAft>
            </a:pPr>
            <a:r>
              <a:rPr sz="1400" b="1" i="0">
                <a:solidFill>
                  <a:srgbClr val="1D4771"/>
                </a:solidFill>
                <a:latin typeface="Montserrat"/>
              </a:rPr>
              <a:t>Potential Advantages</a:t>
            </a:r>
          </a:p>
          <a:p>
            <a:pPr algn="l">
              <a:spcBef>
                <a:spcPts val="200"/>
              </a:spcBef>
              <a:spcAft>
                <a:spcPts val="200"/>
              </a:spcAft>
            </a:pPr>
            <a:r>
              <a:rPr sz="1400" b="0" i="0">
                <a:solidFill>
                  <a:srgbClr val="0C1115"/>
                </a:solidFill>
                <a:latin typeface="Montserrat"/>
              </a:rPr>
              <a:t>•  Lower implementation costs and technology investment</a:t>
            </a:r>
          </a:p>
          <a:p>
            <a:pPr algn="l">
              <a:spcBef>
                <a:spcPts val="200"/>
              </a:spcBef>
              <a:spcAft>
                <a:spcPts val="200"/>
              </a:spcAft>
            </a:pPr>
            <a:r>
              <a:rPr sz="1400" b="0" i="0">
                <a:solidFill>
                  <a:srgbClr val="0C1115"/>
                </a:solidFill>
                <a:latin typeface="Montserrat"/>
              </a:rPr>
              <a:t>•  Faster speed to market</a:t>
            </a:r>
          </a:p>
          <a:p>
            <a:pPr algn="l">
              <a:spcBef>
                <a:spcPts val="200"/>
              </a:spcBef>
              <a:spcAft>
                <a:spcPts val="200"/>
              </a:spcAft>
            </a:pPr>
            <a:r>
              <a:rPr sz="1400" b="0" i="0">
                <a:solidFill>
                  <a:srgbClr val="0C1115"/>
                </a:solidFill>
                <a:latin typeface="Montserrat"/>
              </a:rPr>
              <a:t>•  Reduced operational complexity</a:t>
            </a:r>
          </a:p>
          <a:p>
            <a:pPr algn="l">
              <a:spcBef>
                <a:spcPts val="200"/>
              </a:spcBef>
              <a:spcAft>
                <a:spcPts val="200"/>
              </a:spcAft>
            </a:pPr>
            <a:r>
              <a:rPr sz="1400" b="0" i="0">
                <a:solidFill>
                  <a:srgbClr val="0C1115"/>
                </a:solidFill>
                <a:latin typeface="Montserrat"/>
              </a:rPr>
              <a:t>•  Reduced connectivity requirements</a:t>
            </a:r>
          </a:p>
          <a:p>
            <a:pPr algn="l">
              <a:spcBef>
                <a:spcPts val="200"/>
              </a:spcBef>
              <a:spcAft>
                <a:spcPts val="200"/>
              </a:spcAft>
            </a:pPr>
            <a:r>
              <a:rPr sz="1400" b="0" i="0">
                <a:solidFill>
                  <a:srgbClr val="0C1115"/>
                </a:solidFill>
                <a:latin typeface="Montserrat"/>
              </a:rPr>
              <a:t>•  Access to payment functionality through an established participant</a:t>
            </a:r>
          </a:p>
          <a:p>
            <a:pPr algn="l">
              <a:spcBef>
                <a:spcPts val="200"/>
              </a:spcBef>
              <a:spcAft>
                <a:spcPts val="200"/>
              </a:spcAft>
            </a:pPr>
            <a:r>
              <a:rPr sz="1400" b="0" i="0">
                <a:solidFill>
                  <a:srgbClr val="0C1115"/>
                </a:solidFill>
                <a:latin typeface="Montserrat"/>
              </a:rPr>
              <a:t>•  Often the most practical path for smaller credit unions</a:t>
            </a:r>
          </a:p>
          <a:p>
            <a:pPr algn="l">
              <a:spcBef>
                <a:spcPts val="600"/>
              </a:spcBef>
              <a:spcAft>
                <a:spcPts val="200"/>
              </a:spcAft>
            </a:pPr>
            <a:r>
              <a:rPr sz="1400" b="1" i="0">
                <a:solidFill>
                  <a:srgbClr val="1D4771"/>
                </a:solidFill>
                <a:latin typeface="Montserrat"/>
              </a:rPr>
              <a:t>Key Risks &amp; Dependencies</a:t>
            </a:r>
          </a:p>
          <a:p>
            <a:pPr algn="l">
              <a:spcBef>
                <a:spcPts val="200"/>
              </a:spcBef>
              <a:spcAft>
                <a:spcPts val="200"/>
              </a:spcAft>
            </a:pPr>
            <a:r>
              <a:rPr sz="1400" b="0" i="0">
                <a:solidFill>
                  <a:srgbClr val="0C1115"/>
                </a:solidFill>
                <a:latin typeface="Montserrat"/>
              </a:rPr>
              <a:t>•  Operational resilience of the sponsor</a:t>
            </a:r>
          </a:p>
          <a:p>
            <a:pPr algn="l">
              <a:spcBef>
                <a:spcPts val="200"/>
              </a:spcBef>
              <a:spcAft>
                <a:spcPts val="200"/>
              </a:spcAft>
            </a:pPr>
            <a:r>
              <a:rPr sz="1400" b="0" i="0">
                <a:solidFill>
                  <a:srgbClr val="0C1115"/>
                </a:solidFill>
                <a:latin typeface="Montserrat"/>
              </a:rPr>
              <a:t>•  Sponsor's technology infrastructure and uptime</a:t>
            </a:r>
          </a:p>
          <a:p>
            <a:pPr algn="l">
              <a:spcBef>
                <a:spcPts val="200"/>
              </a:spcBef>
              <a:spcAft>
                <a:spcPts val="200"/>
              </a:spcAft>
            </a:pPr>
            <a:r>
              <a:rPr sz="1400" b="0" i="0">
                <a:solidFill>
                  <a:srgbClr val="0C1115"/>
                </a:solidFill>
                <a:latin typeface="Montserrat"/>
              </a:rPr>
              <a:t>•  Sponsor's compliance and sanctions framework</a:t>
            </a:r>
          </a:p>
          <a:p>
            <a:pPr algn="l">
              <a:spcBef>
                <a:spcPts val="200"/>
              </a:spcBef>
              <a:spcAft>
                <a:spcPts val="200"/>
              </a:spcAft>
            </a:pPr>
            <a:r>
              <a:rPr sz="1400" b="0" i="0">
                <a:solidFill>
                  <a:srgbClr val="0C1115"/>
                </a:solidFill>
                <a:latin typeface="Montserrat"/>
              </a:rPr>
              <a:t>•  Sponsor's liquidity management practices</a:t>
            </a:r>
          </a:p>
          <a:p>
            <a:pPr algn="l">
              <a:spcBef>
                <a:spcPts val="200"/>
              </a:spcBef>
              <a:spcAft>
                <a:spcPts val="200"/>
              </a:spcAft>
            </a:pPr>
            <a:r>
              <a:rPr sz="1400" b="0" i="0">
                <a:solidFill>
                  <a:srgbClr val="0C1115"/>
                </a:solidFill>
                <a:latin typeface="Montserrat"/>
              </a:rPr>
              <a:t>•  Sponsor's strategic priorities and business continuity</a:t>
            </a:r>
          </a:p>
          <a:p>
            <a:pPr algn="l">
              <a:spcBef>
                <a:spcPts val="200"/>
              </a:spcBef>
              <a:spcAft>
                <a:spcPts val="200"/>
              </a:spcAft>
            </a:pPr>
            <a:r>
              <a:rPr sz="1400" b="0" i="0">
                <a:solidFill>
                  <a:srgbClr val="0C1115"/>
                </a:solidFill>
                <a:latin typeface="Montserrat"/>
              </a:rPr>
              <a:t>•  Allocation of responsibility for fraud, AML, authentication, and failed payments</a:t>
            </a:r>
          </a:p>
          <a:p>
            <a:pPr algn="l">
              <a:spcBef>
                <a:spcPts val="600"/>
              </a:spcBef>
              <a:spcAft>
                <a:spcPts val="400"/>
              </a:spcAft>
            </a:pPr>
            <a:r>
              <a:rPr sz="1500" b="0" i="0">
                <a:solidFill>
                  <a:srgbClr val="334E68"/>
                </a:solidFill>
                <a:latin typeface="Montserrat"/>
              </a:rPr>
              <a:t>Sponsored participation reduces operational burden, but increases dependency. The key governance question shifts from "How do we operate the payment rail?" to "How do we oversee the parties that operate it on our behalf?"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4.5 — Choosing the Right Model</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There Is No Universally Right Model</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The best model depends on the institution's size, transaction volume, technological capabilities, risk appetite, available resources, and strategic objectives. Institutions should evaluate each of the following dimensions.</a:t>
            </a:r>
          </a:p>
          <a:p>
            <a:pPr algn="l">
              <a:spcBef>
                <a:spcPts val="600"/>
              </a:spcBef>
              <a:spcAft>
                <a:spcPts val="400"/>
              </a:spcAft>
            </a:pPr>
            <a:r>
              <a:rPr sz="1500" b="0" i="0">
                <a:solidFill>
                  <a:srgbClr val="334E68"/>
                </a:solidFill>
                <a:latin typeface="Montserrat"/>
              </a:rPr>
              <a:t>How much control over payment operations, customer experience, product development, and strategic direction does the institution wish to retain?</a:t>
            </a:r>
          </a:p>
          <a:p>
            <a:pPr algn="l">
              <a:spcBef>
                <a:spcPts val="600"/>
              </a:spcBef>
              <a:spcAft>
                <a:spcPts val="400"/>
              </a:spcAft>
            </a:pPr>
            <a:r>
              <a:rPr sz="1500" b="0" i="0">
                <a:solidFill>
                  <a:srgbClr val="334E68"/>
                </a:solidFill>
                <a:latin typeface="Montserrat"/>
              </a:rPr>
              <a:t>What level of investment in infrastructure, staffing, liquidity management, compliance, and operational resilience is the institution prepared to make?</a:t>
            </a:r>
          </a:p>
          <a:p>
            <a:pPr algn="l">
              <a:spcBef>
                <a:spcPts val="600"/>
              </a:spcBef>
              <a:spcAft>
                <a:spcPts val="400"/>
              </a:spcAft>
            </a:pPr>
            <a:r>
              <a:rPr sz="1500" b="0" i="0">
                <a:solidFill>
                  <a:srgbClr val="334E68"/>
                </a:solidFill>
                <a:latin typeface="Montserrat"/>
              </a:rPr>
              <a:t>Who manages liquidity requirements? How much must be committed? How will it be monitored and replenished continuously?</a:t>
            </a:r>
          </a:p>
          <a:p>
            <a:pPr algn="l">
              <a:spcBef>
                <a:spcPts val="600"/>
              </a:spcBef>
              <a:spcAft>
                <a:spcPts val="400"/>
              </a:spcAft>
            </a:pPr>
            <a:r>
              <a:rPr sz="1500" b="0" i="0">
                <a:solidFill>
                  <a:srgbClr val="334E68"/>
                </a:solidFill>
                <a:latin typeface="Montserrat"/>
              </a:rPr>
              <a:t>Who performs CDD, sanctions screening, transaction monitoring, fraud management, and regulatory reporting?</a:t>
            </a:r>
          </a:p>
          <a:p>
            <a:pPr algn="l">
              <a:spcBef>
                <a:spcPts val="600"/>
              </a:spcBef>
              <a:spcAft>
                <a:spcPts val="400"/>
              </a:spcAft>
            </a:pPr>
            <a:r>
              <a:rPr sz="1500" b="0" i="0">
                <a:solidFill>
                  <a:srgbClr val="334E68"/>
                </a:solidFill>
                <a:latin typeface="Montserrat"/>
              </a:rPr>
              <a:t>Who manages outages, responds to incidents, and owns business continuity? What happens if a critical service provider becomes unavailable?</a:t>
            </a:r>
          </a:p>
          <a:p>
            <a:pPr algn="l">
              <a:spcBef>
                <a:spcPts val="600"/>
              </a:spcBef>
              <a:spcAft>
                <a:spcPts val="400"/>
              </a:spcAft>
            </a:pPr>
            <a:r>
              <a:rPr sz="1500" b="0" i="0">
                <a:solidFill>
                  <a:srgbClr val="334E68"/>
                </a:solidFill>
                <a:latin typeface="Montserrat"/>
              </a:rPr>
              <a:t>How are responsibilities allocated? How are disputes resolved? How are risks allocated contractually between participants?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 cy="685800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0"/>
            <a:ext cx="3200400" cy="411480"/>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Conclusions</a:t>
            </a:r>
          </a:p>
        </p:txBody>
      </p:sp>
      <p:sp>
        <p:nvSpPr>
          <p:cNvPr id="6" name="TextBox 5"/>
          <p:cNvSpPr txBox="1"/>
          <p:nvPr/>
        </p:nvSpPr>
        <p:spPr>
          <a:xfrm>
            <a:off x="594360" y="2103120"/>
            <a:ext cx="3200400" cy="2286000"/>
          </a:xfrm>
          <a:prstGeom prst="rect">
            <a:avLst/>
          </a:prstGeom>
          <a:noFill/>
          <a:ln>
            <a:noFill/>
          </a:ln>
        </p:spPr>
        <p:txBody>
          <a:bodyPr wrap="square">
            <a:spAutoFit/>
          </a:bodyPr>
          <a:lstStyle/>
          <a:p>
            <a:pPr algn="l">
              <a:spcBef>
                <a:spcPts val="0"/>
              </a:spcBef>
              <a:spcAft>
                <a:spcPts val="500"/>
              </a:spcAft>
            </a:pPr>
            <a:r>
              <a:rPr sz="3400" b="1" i="0">
                <a:solidFill>
                  <a:srgbClr val="FFFFFF"/>
                </a:solidFill>
                <a:latin typeface="Georgia"/>
              </a:rPr>
              <a:t>Participation Decisions Are Governance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